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D037792-0B5A-8F67-229D-56F0B2E6DE64}">
          <p14:sldIdLst>
            <p14:sldId id="256"/>
          </p14:sldIdLst>
        </p14:section>
        <p14:section name="Problem and Solution" id="{E9B6F48A-8DDB-CEE1-FDA1-CEDC25443BA5}">
          <p14:sldIdLst>
            <p14:sldId id="257"/>
            <p14:sldId id="258"/>
          </p14:sldIdLst>
        </p14:section>
        <p14:section name="System" id="{29C116FD-5EF6-71CB-4C9B-385E78663CE1}">
          <p14:sldIdLst>
            <p14:sldId id="259"/>
            <p14:sldId id="260"/>
          </p14:sldIdLst>
        </p14:section>
        <p14:section name="Explainability" id="{3BE887F4-5A8F-2C85-9036-D86A9684BCF8}">
          <p14:sldIdLst>
            <p14:sldId id="261"/>
          </p14:sldIdLst>
        </p14:section>
        <p14:section name="Evaluation" id="{E50A051D-2DA4-A365-7922-8C0257F93239}">
          <p14:sldIdLst>
            <p14:sldId id="262"/>
            <p14:sldId id="263"/>
            <p14:sldId id="264"/>
          </p14:sldIdLst>
        </p14:section>
        <p14:section name="LLM and Flow" id="{1F089B43-88F7-6A32-4D72-DB107FD1058F}">
          <p14:sldIdLst>
            <p14:sldId id="265"/>
            <p14:sldId id="266"/>
          </p14:sldIdLst>
        </p14:section>
        <p14:section name="Close" id="{37F02BA1-1322-C5E5-62A6-11EAC801D87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57B30-B928-4248-B48E-3F434B8D5D42}" v="15" dt="2026-10-03T16:29:55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98ED4-36BB-4EEA-BE33-5D6A3D338441}" type="datetimeFigureOut"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21692-83E8-4854-A6BA-BEA2BA206D9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0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5394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5468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822960"/>
            <a:ext cx="5029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7reus/Vigi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1"/>
          <p:cNvSpPr/>
          <p:nvPr/>
        </p:nvSpPr>
        <p:spPr>
          <a:xfrm>
            <a:off x="5943600" y="457200"/>
            <a:ext cx="4206240" cy="420624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" name="Ring 2"/>
          <p:cNvSpPr/>
          <p:nvPr/>
        </p:nvSpPr>
        <p:spPr>
          <a:xfrm>
            <a:off x="6446520" y="960120"/>
            <a:ext cx="3200400" cy="3200400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4" name="Ring 3"/>
          <p:cNvSpPr/>
          <p:nvPr/>
        </p:nvSpPr>
        <p:spPr>
          <a:xfrm>
            <a:off x="6949440" y="1463040"/>
            <a:ext cx="2194560" cy="2194560"/>
          </a:xfrm>
          <a:prstGeom prst="ellipse">
            <a:avLst/>
          </a:prstGeom>
          <a:solidFill>
            <a:schemeClr val="accent1">
              <a:alpha val="32000"/>
            </a:schemeClr>
          </a:solidFill>
          <a:ln/>
        </p:spPr>
      </p:sp>
      <p:sp>
        <p:nvSpPr>
          <p:cNvPr id="5" name="Ring 4"/>
          <p:cNvSpPr/>
          <p:nvPr/>
        </p:nvSpPr>
        <p:spPr>
          <a:xfrm>
            <a:off x="7406640" y="1920240"/>
            <a:ext cx="1280160" cy="1280160"/>
          </a:xfrm>
          <a:prstGeom prst="ellipse">
            <a:avLst/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Vigil: From Raw Transfers to Explainable Fraud Decisions</a:t>
            </a:r>
            <a:endParaRPr lang="en-US" sz="3600" dirty="0"/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54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 multi-layered AI system for fintech fraud detection that is fast, fair, and honest.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Problem: Fraud is a Story, Not a Rule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Four</a:t>
            </a:r>
            <a:r>
              <a:rPr lang="en-US" sz="1400" dirty="0">
                <a:solidFill>
                  <a:schemeClr val="accent6"/>
                </a:solidFill>
              </a:rPr>
              <a:t> common scams, each with a </a:t>
            </a:r>
            <a:r>
              <a:rPr lang="en-US" sz="1400" i="1" dirty="0">
                <a:solidFill>
                  <a:schemeClr val="accent6"/>
                </a:solidFill>
              </a:rPr>
              <a:t>distinct signature</a:t>
            </a:r>
            <a:r>
              <a:rPr lang="en-US" sz="1400" dirty="0">
                <a:solidFill>
                  <a:schemeClr val="accent6"/>
                </a:solidFill>
              </a:rPr>
              <a:t> that simple rules can't catch without blocking innocent users:</a:t>
            </a:r>
            <a:endParaRPr lang="en-US" sz="1400" dirty="0"/>
          </a:p>
        </p:txBody>
      </p:sp>
      <p:sp>
        <p:nvSpPr>
          <p:cNvPr id="4" name="Scam card 1"/>
          <p:cNvSpPr/>
          <p:nvPr/>
        </p:nvSpPr>
        <p:spPr>
          <a:xfrm>
            <a:off x="548640" y="182880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cam number 1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cam text 1"/>
          <p:cNvSpPr txBox="1"/>
          <p:nvPr/>
        </p:nvSpPr>
        <p:spPr>
          <a:xfrm>
            <a:off x="1280160" y="19659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Social Engineering: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Urgent, large, night-time transfers to strangers from new devices.</a:t>
            </a:r>
            <a:endParaRPr lang="en-US" sz="1400" dirty="0"/>
          </a:p>
        </p:txBody>
      </p:sp>
      <p:sp>
        <p:nvSpPr>
          <p:cNvPr id="7" name="Scam card 2"/>
          <p:cNvSpPr/>
          <p:nvPr/>
        </p:nvSpPr>
        <p:spPr>
          <a:xfrm>
            <a:off x="4663440" y="182880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Scam number 2"/>
          <p:cNvSpPr/>
          <p:nvPr/>
        </p:nvSpPr>
        <p:spPr>
          <a:xfrm>
            <a:off x="4846320" y="2011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cam text 2"/>
          <p:cNvSpPr txBox="1"/>
          <p:nvPr/>
        </p:nvSpPr>
        <p:spPr>
          <a:xfrm>
            <a:off x="5394960" y="19659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Account Takeover (ATO):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New device + location jump + rapid transfers after a password reset.</a:t>
            </a:r>
            <a:endParaRPr lang="en-US" sz="1400" dirty="0"/>
          </a:p>
        </p:txBody>
      </p:sp>
      <p:sp>
        <p:nvSpPr>
          <p:cNvPr id="10" name="Scam card 3"/>
          <p:cNvSpPr/>
          <p:nvPr/>
        </p:nvSpPr>
        <p:spPr>
          <a:xfrm>
            <a:off x="548640" y="329184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cam number 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cam text 3"/>
          <p:cNvSpPr txBox="1"/>
          <p:nvPr/>
        </p:nvSpPr>
        <p:spPr>
          <a:xfrm>
            <a:off x="128016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Mule Ring: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Many senders → one receiver, round amounts, all within a tight time window.</a:t>
            </a:r>
            <a:endParaRPr lang="en-US" sz="1400" dirty="0"/>
          </a:p>
        </p:txBody>
      </p:sp>
      <p:sp>
        <p:nvSpPr>
          <p:cNvPr id="13" name="Scam card 4"/>
          <p:cNvSpPr/>
          <p:nvPr/>
        </p:nvSpPr>
        <p:spPr>
          <a:xfrm>
            <a:off x="4663440" y="329184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Scam number 4"/>
          <p:cNvSpPr/>
          <p:nvPr/>
        </p:nvSpPr>
        <p:spPr>
          <a:xfrm>
            <a:off x="4846320" y="34747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cam text 4"/>
          <p:cNvSpPr txBox="1"/>
          <p:nvPr/>
        </p:nvSpPr>
        <p:spPr>
          <a:xfrm>
            <a:off x="539496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 Anomaly: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cash-out agent suddenly moving 3x its normal volume.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Our Solution: A 3-Layer AI Ensemble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We turn every transfer into 26 features (velocity, deviation, novelty, network shape) and feed them to three separate AI models that vote on a suspicion score.</a:t>
            </a:r>
            <a:endParaRPr lang="en-US" sz="1400" dirty="0"/>
          </a:p>
        </p:txBody>
      </p:sp>
      <p:graphicFrame>
        <p:nvGraphicFramePr>
          <p:cNvPr id="4" name="Ensemb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Learns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XGBoost Classifier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Recognizes known fraud patterns (e.g., scam, ATO).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Supervised: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 Trained on 50k labeled fraud/not-fraud cases.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8432C"/>
                          </a:solidFill>
                        </a:rPr>
                        <a:t>70%</a:t>
                      </a:r>
                      <a:endParaRPr lang="en-US" sz="20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IsolationForest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Detects brand-new, unseen fraud tricks.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Unsupervised: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 Trained only on normal transactions.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8432C"/>
                          </a:solidFill>
                        </a:rPr>
                        <a:t>20%</a:t>
                      </a:r>
                      <a:endParaRPr lang="en-US" sz="20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Graph Analysis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Catches mule rings by analyzing wallet relationships.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Network: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 Finds many senders → one receiver (fan-in).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8432C"/>
                          </a:solidFill>
                        </a:rPr>
                        <a:t>10%</a:t>
                      </a:r>
                      <a:endParaRPr lang="en-US" sz="20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rmula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Final Score = (0.7 × Classifier) + (0.2 × Anomaly) + (0.1 × Graph)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Our Pipeline at a Glance</a:t>
            </a:r>
            <a:endParaRPr lang="en-US" sz="2800" dirty="0"/>
          </a:p>
        </p:txBody>
      </p:sp>
      <p:sp>
        <p:nvSpPr>
          <p:cNvPr id="3" name="Diagram card"/>
          <p:cNvSpPr/>
          <p:nvPr/>
        </p:nvSpPr>
        <p:spPr>
          <a:xfrm>
            <a:off x="548640" y="1371600"/>
            <a:ext cx="8046720" cy="3200400"/>
          </a:xfrm>
          <a:prstGeom prst="roundRect">
            <a:avLst>
              <a:gd name="adj" fmla="val 3429"/>
            </a:avLst>
          </a:prstGeom>
          <a:solidFill>
            <a:schemeClr val="tx2">
              <a:lumMod val="25000"/>
              <a:lumOff val="75000"/>
            </a:schemeClr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4F0A7-735C-26B3-6B5F-C23F3FFEA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93" y="1624670"/>
            <a:ext cx="8040413" cy="26890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Score to Action: Kept Separate by Design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math is honest and tunable. Business policy is editable without retraining.</a:t>
            </a:r>
            <a:endParaRPr lang="en-US" sz="1400" dirty="0"/>
          </a:p>
        </p:txBody>
      </p:sp>
      <p:sp>
        <p:nvSpPr>
          <p:cNvPr id="4" name="Action card 1"/>
          <p:cNvSpPr/>
          <p:nvPr/>
        </p:nvSpPr>
        <p:spPr>
          <a:xfrm>
            <a:off x="548640" y="178308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tep number 1"/>
          <p:cNvSpPr txBox="1"/>
          <p:nvPr/>
        </p:nvSpPr>
        <p:spPr>
          <a:xfrm>
            <a:off x="7772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core band 1"/>
          <p:cNvSpPr/>
          <p:nvPr/>
        </p:nvSpPr>
        <p:spPr>
          <a:xfrm>
            <a:off x="731520" y="265176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Score &gt; 0.85</a:t>
            </a:r>
            <a:endParaRPr lang="en-US" sz="1600" dirty="0"/>
          </a:p>
        </p:txBody>
      </p:sp>
      <p:sp>
        <p:nvSpPr>
          <p:cNvPr id="7" name="Actions 1"/>
          <p:cNvSpPr txBox="1"/>
          <p:nvPr/>
        </p:nvSpPr>
        <p:spPr>
          <a:xfrm>
            <a:off x="77724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Hold transaction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Step-up Auth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Human Review</a:t>
            </a:r>
            <a:endParaRPr lang="en-US" sz="1400" dirty="0"/>
          </a:p>
        </p:txBody>
      </p:sp>
      <p:sp>
        <p:nvSpPr>
          <p:cNvPr id="8" name="Action card 2"/>
          <p:cNvSpPr/>
          <p:nvPr/>
        </p:nvSpPr>
        <p:spPr>
          <a:xfrm>
            <a:off x="3291840" y="178308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tep number 2"/>
          <p:cNvSpPr txBox="1"/>
          <p:nvPr/>
        </p:nvSpPr>
        <p:spPr>
          <a:xfrm>
            <a:off x="35204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Score band 2"/>
          <p:cNvSpPr/>
          <p:nvPr/>
        </p:nvSpPr>
        <p:spPr>
          <a:xfrm>
            <a:off x="3474720" y="265176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 0.60 – 0.85</a:t>
            </a:r>
            <a:endParaRPr lang="en-US" sz="1600" dirty="0"/>
          </a:p>
        </p:txBody>
      </p:sp>
      <p:sp>
        <p:nvSpPr>
          <p:cNvPr id="11" name="Actions 2"/>
          <p:cNvSpPr txBox="1"/>
          <p:nvPr/>
        </p:nvSpPr>
        <p:spPr>
          <a:xfrm>
            <a:off x="352044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transaction</a:t>
            </a:r>
            <a:endParaRPr lang="en-US" sz="1400" dirty="0"/>
          </a:p>
        </p:txBody>
      </p:sp>
      <p:sp>
        <p:nvSpPr>
          <p:cNvPr id="12" name="Action card 3"/>
          <p:cNvSpPr/>
          <p:nvPr/>
        </p:nvSpPr>
        <p:spPr>
          <a:xfrm>
            <a:off x="6035040" y="178308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3" name="Step number 3"/>
          <p:cNvSpPr txBox="1"/>
          <p:nvPr/>
        </p:nvSpPr>
        <p:spPr>
          <a:xfrm>
            <a:off x="62636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Score band 3"/>
          <p:cNvSpPr/>
          <p:nvPr/>
        </p:nvSpPr>
        <p:spPr>
          <a:xfrm>
            <a:off x="6217920" y="265176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Score &lt; 0.60</a:t>
            </a:r>
            <a:endParaRPr lang="en-US" sz="1600" dirty="0"/>
          </a:p>
        </p:txBody>
      </p:sp>
      <p:sp>
        <p:nvSpPr>
          <p:cNvPr id="15" name="Actions 3"/>
          <p:cNvSpPr txBox="1"/>
          <p:nvPr/>
        </p:nvSpPr>
        <p:spPr>
          <a:xfrm>
            <a:off x="626364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Allow transaction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Explaining the "Why": Three Layers of Honesty</a:t>
            </a:r>
            <a:endParaRPr lang="en-US" sz="2800" dirty="0"/>
          </a:p>
        </p:txBody>
      </p:sp>
      <p:sp>
        <p:nvSpPr>
          <p:cNvPr id="3" name="Layer card 1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" name="Layer number 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ayer text 1"/>
          <p:cNvSpPr txBox="1"/>
          <p:nvPr/>
        </p:nvSpPr>
        <p:spPr>
          <a:xfrm>
            <a:off x="1508760" y="1463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Auditable Rules First: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Plain facts an analyst can verify ("new device", "amount 15x average").</a:t>
            </a:r>
            <a:endParaRPr lang="en-US" sz="1600" dirty="0"/>
          </a:p>
        </p:txBody>
      </p:sp>
      <p:sp>
        <p:nvSpPr>
          <p:cNvPr id="6" name="Layer card 2"/>
          <p:cNvSpPr/>
          <p:nvPr/>
        </p:nvSpPr>
        <p:spPr>
          <a:xfrm>
            <a:off x="548640" y="246888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Layer number 2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Layer text 2"/>
          <p:cNvSpPr txBox="1"/>
          <p:nvPr/>
        </p:nvSpPr>
        <p:spPr>
          <a:xfrm>
            <a:off x="150876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SHAP Values: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Fairly divides credit for the score among features for </a:t>
            </a:r>
            <a:r>
              <a:rPr lang="en-US" sz="1400" i="1" dirty="0">
                <a:solidFill>
                  <a:schemeClr val="accent6"/>
                </a:solidFill>
              </a:rPr>
              <a:t>this specific transaction</a:t>
            </a:r>
            <a:r>
              <a:rPr lang="en-US" sz="1400" dirty="0">
                <a:solidFill>
                  <a:schemeClr val="accent6"/>
                </a:solidFill>
              </a:rPr>
              <a:t> (e.g., "receiver fan-in added +3.80 to suspicion").</a:t>
            </a:r>
            <a:endParaRPr lang="en-US" sz="1600" dirty="0"/>
          </a:p>
        </p:txBody>
      </p:sp>
      <p:sp>
        <p:nvSpPr>
          <p:cNvPr id="9" name="Layer card 3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Layer number 3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Layer text 3"/>
          <p:cNvSpPr txBox="1"/>
          <p:nvPr/>
        </p:nvSpPr>
        <p:spPr>
          <a:xfrm>
            <a:off x="1508760" y="3657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Global Importance: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backfill for minimal installs.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Datasets Used For Testing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We’ve tested our model against our generated synthetic dataset and a larger dataset we’ve collected from Kaggle (PaySim) after adapting it a bit. No fine-tuning was done based on these datasets. The model never saw these datasets while training.</a:t>
            </a:r>
            <a:endParaRPr lang="en-US" sz="1400" dirty="0"/>
          </a:p>
        </p:txBody>
      </p:sp>
      <p:graphicFrame>
        <p:nvGraphicFramePr>
          <p:cNvPr id="8" name="Datase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8046720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Transactions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Fraud Cases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Signals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Generated Synthetic Dataset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32C"/>
                          </a:solidFill>
                        </a:rPr>
                        <a:t>50,000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32C"/>
                          </a:solidFill>
                        </a:rPr>
                        <a:t>~2,000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Device, location, reset, velocity, graph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PaySim Dataset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32C"/>
                          </a:solidFill>
                        </a:rPr>
                        <a:t>108,213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32C"/>
                          </a:solidFill>
                        </a:rPr>
                        <a:t>8,213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Amount, velocity, type, graph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Performance Metrics (Against Our Synthetic Dataset)</a:t>
            </a:r>
            <a:endParaRPr lang="en-US" sz="2800" dirty="0"/>
          </a:p>
        </p:txBody>
      </p:sp>
      <p:sp>
        <p:nvSpPr>
          <p:cNvPr id="3" name="Metric card 1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" name="Metric label 1"/>
          <p:cNvSpPr txBox="1"/>
          <p:nvPr/>
        </p:nvSpPr>
        <p:spPr>
          <a:xfrm>
            <a:off x="77724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AUC</a:t>
            </a:r>
            <a:endParaRPr lang="en-US" sz="1400" dirty="0"/>
          </a:p>
        </p:txBody>
      </p:sp>
      <p:sp>
        <p:nvSpPr>
          <p:cNvPr id="5" name="Metric value 1"/>
          <p:cNvSpPr txBox="1"/>
          <p:nvPr/>
        </p:nvSpPr>
        <p:spPr>
          <a:xfrm>
            <a:off x="2377440" y="13990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0.9982</a:t>
            </a:r>
            <a:endParaRPr lang="en-US" sz="3000" dirty="0"/>
          </a:p>
        </p:txBody>
      </p:sp>
      <p:sp>
        <p:nvSpPr>
          <p:cNvPr id="6" name="Metric note 1"/>
          <p:cNvSpPr txBox="1"/>
          <p:nvPr/>
        </p:nvSpPr>
        <p:spPr>
          <a:xfrm>
            <a:off x="777240" y="1965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Industry-leading discrimination vs rule baseline 0.8119</a:t>
            </a:r>
            <a:endParaRPr lang="en-US" sz="1200" dirty="0"/>
          </a:p>
        </p:txBody>
      </p:sp>
      <p:sp>
        <p:nvSpPr>
          <p:cNvPr id="7" name="Metric card 2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Metric label 2"/>
          <p:cNvSpPr txBox="1"/>
          <p:nvPr/>
        </p:nvSpPr>
        <p:spPr>
          <a:xfrm>
            <a:off x="489204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Recall@5%FPR</a:t>
            </a:r>
            <a:endParaRPr lang="en-US" sz="1400" dirty="0"/>
          </a:p>
        </p:txBody>
      </p:sp>
      <p:sp>
        <p:nvSpPr>
          <p:cNvPr id="9" name="Metric value 2"/>
          <p:cNvSpPr txBox="1"/>
          <p:nvPr/>
        </p:nvSpPr>
        <p:spPr>
          <a:xfrm>
            <a:off x="6492240" y="13990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0.9938</a:t>
            </a:r>
            <a:endParaRPr lang="en-US" sz="3000" dirty="0"/>
          </a:p>
        </p:txBody>
      </p:sp>
      <p:sp>
        <p:nvSpPr>
          <p:cNvPr id="10" name="Metric note 2"/>
          <p:cNvSpPr txBox="1"/>
          <p:nvPr/>
        </p:nvSpPr>
        <p:spPr>
          <a:xfrm>
            <a:off x="4892040" y="1965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Vs baseline 0.2149; near-perfect detection</a:t>
            </a:r>
            <a:endParaRPr lang="en-US" sz="1200" dirty="0"/>
          </a:p>
        </p:txBody>
      </p:sp>
      <p:sp>
        <p:nvSpPr>
          <p:cNvPr id="11" name="Metric card 3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Metric label 3"/>
          <p:cNvSpPr txBox="1"/>
          <p:nvPr/>
        </p:nvSpPr>
        <p:spPr>
          <a:xfrm>
            <a:off x="77724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Precision@100</a:t>
            </a:r>
            <a:endParaRPr lang="en-US" sz="1400" dirty="0"/>
          </a:p>
        </p:txBody>
      </p:sp>
      <p:sp>
        <p:nvSpPr>
          <p:cNvPr id="13" name="Metric value 3"/>
          <p:cNvSpPr txBox="1"/>
          <p:nvPr/>
        </p:nvSpPr>
        <p:spPr>
          <a:xfrm>
            <a:off x="237744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3000" dirty="0"/>
          </a:p>
        </p:txBody>
      </p:sp>
      <p:sp>
        <p:nvSpPr>
          <p:cNvPr id="14" name="Metric note 3"/>
          <p:cNvSpPr txBox="1"/>
          <p:nvPr/>
        </p:nvSpPr>
        <p:spPr>
          <a:xfrm>
            <a:off x="77724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Precision at top-100 candidates. The rule-based baseline gives 0.86</a:t>
            </a:r>
            <a:endParaRPr lang="en-US" sz="1200" dirty="0"/>
          </a:p>
        </p:txBody>
      </p:sp>
      <p:sp>
        <p:nvSpPr>
          <p:cNvPr id="15" name="Metric card 4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Metric label 4"/>
          <p:cNvSpPr txBox="1"/>
          <p:nvPr/>
        </p:nvSpPr>
        <p:spPr>
          <a:xfrm>
            <a:off x="489204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p95 Latency</a:t>
            </a:r>
            <a:endParaRPr lang="en-US" sz="1400" dirty="0"/>
          </a:p>
        </p:txBody>
      </p:sp>
      <p:sp>
        <p:nvSpPr>
          <p:cNvPr id="17" name="Metric value 4"/>
          <p:cNvSpPr txBox="1"/>
          <p:nvPr/>
        </p:nvSpPr>
        <p:spPr>
          <a:xfrm>
            <a:off x="649224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25.9ms</a:t>
            </a:r>
            <a:endParaRPr lang="en-US" sz="3000" dirty="0"/>
          </a:p>
        </p:txBody>
      </p:sp>
      <p:sp>
        <p:nvSpPr>
          <p:cNvPr id="18" name="Metric note 4"/>
          <p:cNvSpPr txBox="1"/>
          <p:nvPr/>
        </p:nvSpPr>
        <p:spPr>
          <a:xfrm>
            <a:off x="489204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Approximately 26 ms; production latency suitable for real-time flow.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Performance Metrics (Against PaySim Dataset)</a:t>
            </a:r>
            <a:endParaRPr lang="en-US" sz="2800" dirty="0"/>
          </a:p>
        </p:txBody>
      </p:sp>
      <p:sp>
        <p:nvSpPr>
          <p:cNvPr id="3" name="Metric card 1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" name="Metric label 1"/>
          <p:cNvSpPr txBox="1"/>
          <p:nvPr/>
        </p:nvSpPr>
        <p:spPr>
          <a:xfrm>
            <a:off x="77724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AUC</a:t>
            </a:r>
            <a:endParaRPr lang="en-US" sz="1400" dirty="0"/>
          </a:p>
        </p:txBody>
      </p:sp>
      <p:sp>
        <p:nvSpPr>
          <p:cNvPr id="5" name="Metric value 1"/>
          <p:cNvSpPr txBox="1"/>
          <p:nvPr/>
        </p:nvSpPr>
        <p:spPr>
          <a:xfrm>
            <a:off x="2377440" y="13990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0.8985</a:t>
            </a:r>
            <a:endParaRPr lang="en-US" sz="3000" dirty="0"/>
          </a:p>
        </p:txBody>
      </p:sp>
      <p:sp>
        <p:nvSpPr>
          <p:cNvPr id="6" name="Metric note 1"/>
          <p:cNvSpPr txBox="1"/>
          <p:nvPr/>
        </p:nvSpPr>
        <p:spPr>
          <a:xfrm>
            <a:off x="777240" y="1965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Extremely good discrimination vs rule-based baseline 0.5049.</a:t>
            </a:r>
            <a:endParaRPr lang="en-US" sz="1200" dirty="0"/>
          </a:p>
        </p:txBody>
      </p:sp>
      <p:sp>
        <p:nvSpPr>
          <p:cNvPr id="7" name="Metric card 2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Metric label 2"/>
          <p:cNvSpPr txBox="1"/>
          <p:nvPr/>
        </p:nvSpPr>
        <p:spPr>
          <a:xfrm>
            <a:off x="489204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Recall@5%FPR</a:t>
            </a:r>
            <a:endParaRPr lang="en-US" sz="1400" dirty="0"/>
          </a:p>
        </p:txBody>
      </p:sp>
      <p:sp>
        <p:nvSpPr>
          <p:cNvPr id="9" name="Metric value 2"/>
          <p:cNvSpPr txBox="1"/>
          <p:nvPr/>
        </p:nvSpPr>
        <p:spPr>
          <a:xfrm>
            <a:off x="6492240" y="13990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0.6286</a:t>
            </a:r>
            <a:endParaRPr lang="en-US" sz="3000" dirty="0"/>
          </a:p>
        </p:txBody>
      </p:sp>
      <p:sp>
        <p:nvSpPr>
          <p:cNvPr id="10" name="Metric note 2"/>
          <p:cNvSpPr txBox="1"/>
          <p:nvPr/>
        </p:nvSpPr>
        <p:spPr>
          <a:xfrm>
            <a:off x="4892040" y="1965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Vs rule-based baseline of 0.00; significant improvement in detection.</a:t>
            </a:r>
            <a:endParaRPr lang="en-US" sz="1200" dirty="0"/>
          </a:p>
        </p:txBody>
      </p:sp>
      <p:sp>
        <p:nvSpPr>
          <p:cNvPr id="11" name="Metric card 3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Metric label 3"/>
          <p:cNvSpPr txBox="1"/>
          <p:nvPr/>
        </p:nvSpPr>
        <p:spPr>
          <a:xfrm>
            <a:off x="77724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Precision@100</a:t>
            </a:r>
            <a:endParaRPr lang="en-US" sz="1400" dirty="0"/>
          </a:p>
        </p:txBody>
      </p:sp>
      <p:sp>
        <p:nvSpPr>
          <p:cNvPr id="13" name="Metric value 3"/>
          <p:cNvSpPr txBox="1"/>
          <p:nvPr/>
        </p:nvSpPr>
        <p:spPr>
          <a:xfrm>
            <a:off x="237744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000" dirty="0"/>
          </a:p>
        </p:txBody>
      </p:sp>
      <p:sp>
        <p:nvSpPr>
          <p:cNvPr id="14" name="Metric note 3"/>
          <p:cNvSpPr txBox="1"/>
          <p:nvPr/>
        </p:nvSpPr>
        <p:spPr>
          <a:xfrm>
            <a:off x="77724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Precision at top-100 candidates (high early precision; exact value shown in full report). Rule based system gets 0.83</a:t>
            </a:r>
            <a:endParaRPr lang="en-US" sz="1200" dirty="0"/>
          </a:p>
        </p:txBody>
      </p:sp>
      <p:sp>
        <p:nvSpPr>
          <p:cNvPr id="15" name="Metric card 4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Metric label 4"/>
          <p:cNvSpPr txBox="1"/>
          <p:nvPr/>
        </p:nvSpPr>
        <p:spPr>
          <a:xfrm>
            <a:off x="489204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p95 Latency</a:t>
            </a:r>
            <a:endParaRPr lang="en-US" sz="1400" dirty="0"/>
          </a:p>
        </p:txBody>
      </p:sp>
      <p:sp>
        <p:nvSpPr>
          <p:cNvPr id="17" name="Metric value 4"/>
          <p:cNvSpPr txBox="1"/>
          <p:nvPr/>
        </p:nvSpPr>
        <p:spPr>
          <a:xfrm>
            <a:off x="649224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23.2ms</a:t>
            </a:r>
            <a:endParaRPr lang="en-US" sz="3000" dirty="0"/>
          </a:p>
        </p:txBody>
      </p:sp>
      <p:sp>
        <p:nvSpPr>
          <p:cNvPr id="18" name="Metric note 4"/>
          <p:cNvSpPr txBox="1"/>
          <p:nvPr/>
        </p:nvSpPr>
        <p:spPr>
          <a:xfrm>
            <a:off x="489204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Approximately 23 ms; production latency suitable for real-time flow.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The LLM: Narrator, Not Decider</a:t>
            </a:r>
            <a:endParaRPr lang="en-US" sz="2800" dirty="0"/>
          </a:p>
        </p:txBody>
      </p:sp>
      <p:sp>
        <p:nvSpPr>
          <p:cNvPr id="3" name="LLM card 1"/>
          <p:cNvSpPr/>
          <p:nvPr/>
        </p:nvSpPr>
        <p:spPr>
          <a:xfrm>
            <a:off x="54864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4" name="LLM number 1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LM text 1"/>
          <p:cNvSpPr txBox="1"/>
          <p:nvPr/>
        </p:nvSpPr>
        <p:spPr>
          <a:xfrm>
            <a:off x="77724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Zero Detection: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LLM cannot see fraud or affect the score.</a:t>
            </a:r>
            <a:endParaRPr lang="en-US" sz="1800" dirty="0"/>
          </a:p>
        </p:txBody>
      </p:sp>
      <p:sp>
        <p:nvSpPr>
          <p:cNvPr id="6" name="LLM card 2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7" name="LLM number 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LLM text 2"/>
          <p:cNvSpPr txBox="1"/>
          <p:nvPr/>
        </p:nvSpPr>
        <p:spPr>
          <a:xfrm>
            <a:off x="352044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Grounded Summary: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It receives a JSON bundle of </a:t>
            </a:r>
            <a:r>
              <a:rPr lang="en-US" sz="1400" i="1" dirty="0">
                <a:solidFill>
                  <a:schemeClr val="bg2"/>
                </a:solidFill>
              </a:rPr>
              <a:t>already-computed facts</a:t>
            </a:r>
            <a:r>
              <a:rPr lang="en-US" sz="1400" dirty="0">
                <a:solidFill>
                  <a:schemeClr val="bg2"/>
                </a:solidFill>
              </a:rPr>
              <a:t> and writes a plain-English (or Bangla) case summary for analysts.</a:t>
            </a:r>
            <a:endParaRPr lang="en-US" sz="1800" dirty="0"/>
          </a:p>
        </p:txBody>
      </p:sp>
      <p:sp>
        <p:nvSpPr>
          <p:cNvPr id="9" name="LLM card 3"/>
          <p:cNvSpPr/>
          <p:nvPr/>
        </p:nvSpPr>
        <p:spPr>
          <a:xfrm>
            <a:off x="603504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10" name="LLM number 3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LLM text 3"/>
          <p:cNvSpPr txBox="1"/>
          <p:nvPr/>
        </p:nvSpPr>
        <p:spPr>
          <a:xfrm>
            <a:off x="626364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Fenced In: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fixed template and input sanitization prevent hallucination and prompt injection.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One Request, Cradle to Grave</a:t>
            </a:r>
            <a:endParaRPr lang="en-US" sz="2800" dirty="0"/>
          </a:p>
        </p:txBody>
      </p:sp>
      <p:sp>
        <p:nvSpPr>
          <p:cNvPr id="3" name="Flow card"/>
          <p:cNvSpPr/>
          <p:nvPr/>
        </p:nvSpPr>
        <p:spPr>
          <a:xfrm>
            <a:off x="548640" y="1325880"/>
            <a:ext cx="80467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" name="Flow steps"/>
          <p:cNvSpPr txBox="1"/>
          <p:nvPr/>
        </p:nvSpPr>
        <p:spPr>
          <a:xfrm>
            <a:off x="868680" y="1508760"/>
            <a:ext cx="7406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POST /score</a:t>
            </a:r>
            <a:r>
              <a:rPr lang="en-US" sz="1600" dirty="0">
                <a:solidFill>
                  <a:schemeClr val="tx1"/>
                </a:solidFill>
              </a:rPr>
              <a:t> -→ Validate Input -→ Compute Past-Only Features 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-→ 3 Models Score → Weighted Ensemble -→ Score Band 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-→ Assemble Reasons -→ LLM/Template Narrates -→ Logged as LIVE Case 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-→ Analyst Reviews in Console -→ Decision Logged for Retraining.</a:t>
            </a:r>
            <a:endParaRPr lang="en-US" sz="1600" dirty="0"/>
          </a:p>
        </p:txBody>
      </p:sp>
      <p:sp>
        <p:nvSpPr>
          <p:cNvPr id="5" name="Latency banner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The whole end-to-end request life-cycle has a p95 latency of around 26ms.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1"/>
          <p:cNvSpPr/>
          <p:nvPr/>
        </p:nvSpPr>
        <p:spPr>
          <a:xfrm>
            <a:off x="5943600" y="457200"/>
            <a:ext cx="4206240" cy="420624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" name="Ring 2"/>
          <p:cNvSpPr/>
          <p:nvPr/>
        </p:nvSpPr>
        <p:spPr>
          <a:xfrm>
            <a:off x="6446520" y="960120"/>
            <a:ext cx="3200400" cy="3200400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4" name="Ring 3"/>
          <p:cNvSpPr/>
          <p:nvPr/>
        </p:nvSpPr>
        <p:spPr>
          <a:xfrm>
            <a:off x="6949440" y="1463040"/>
            <a:ext cx="2194560" cy="2194560"/>
          </a:xfrm>
          <a:prstGeom prst="ellipse">
            <a:avLst/>
          </a:prstGeom>
          <a:solidFill>
            <a:schemeClr val="accent1">
              <a:alpha val="32000"/>
            </a:schemeClr>
          </a:solidFill>
          <a:ln/>
        </p:spPr>
      </p:sp>
      <p:sp>
        <p:nvSpPr>
          <p:cNvPr id="5" name="Ring 4"/>
          <p:cNvSpPr/>
          <p:nvPr/>
        </p:nvSpPr>
        <p:spPr>
          <a:xfrm>
            <a:off x="7406640" y="1920240"/>
            <a:ext cx="1280160" cy="1280160"/>
          </a:xfrm>
          <a:prstGeom prst="ellipse">
            <a:avLst/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822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7" name="Team"/>
          <p:cNvSpPr txBox="1"/>
          <p:nvPr/>
        </p:nvSpPr>
        <p:spPr>
          <a:xfrm>
            <a:off x="64008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JU_MergeConflict</a:t>
            </a:r>
            <a:endParaRPr lang="en-US" sz="2400" dirty="0"/>
          </a:p>
        </p:txBody>
      </p:sp>
      <p:sp>
        <p:nvSpPr>
          <p:cNvPr id="8" name="Members"/>
          <p:cNvSpPr txBox="1"/>
          <p:nvPr/>
        </p:nvSpPr>
        <p:spPr>
          <a:xfrm>
            <a:off x="640080" y="2743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Anindya Saha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MD Muktadirul Haque Maruf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Twaha Rahman</a:t>
            </a:r>
            <a:endParaRPr lang="en-US" sz="1600" dirty="0"/>
          </a:p>
        </p:txBody>
      </p:sp>
      <p:sp>
        <p:nvSpPr>
          <p:cNvPr id="9" name="Github link"/>
          <p:cNvSpPr txBox="1"/>
          <p:nvPr/>
        </p:nvSpPr>
        <p:spPr>
          <a:xfrm>
            <a:off x="64008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Github: </a:t>
            </a:r>
            <a:r>
              <a:rPr lang="en-US" sz="1400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https://github.com/A7reus/Vigil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Vigil Ink">
  <a:themeElements>
    <a:clrScheme name="Vigil Ink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E8432C"/>
      </a:accent1>
      <a:accent2>
        <a:srgbClr val="F5A524"/>
      </a:accent2>
      <a:accent3>
        <a:srgbClr val="0E8F7E"/>
      </a:accent3>
      <a:accent4>
        <a:srgbClr val="64748B"/>
      </a:accent4>
      <a:accent5>
        <a:srgbClr val="CBD5E1"/>
      </a:accent5>
      <a:accent6>
        <a:srgbClr val="334155"/>
      </a:accent6>
      <a:hlink>
        <a:srgbClr val="F2553D"/>
      </a:hlink>
      <a:folHlink>
        <a:srgbClr val="64748B"/>
      </a:folHlink>
    </a:clrScheme>
    <a:fontScheme name="Vigil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Vigil Ink</vt:lpstr>
      <vt:lpstr>Vigil: From Raw Transfers to Explainable Fraud Decisions</vt:lpstr>
      <vt:lpstr>The Problem: Fraud is a Story, Not a Rule</vt:lpstr>
      <vt:lpstr>Our Solution: A 3-Layer AI Ensemble</vt:lpstr>
      <vt:lpstr>Our Pipeline at a Glance</vt:lpstr>
      <vt:lpstr>From Score to Action: Kept Separate by Design</vt:lpstr>
      <vt:lpstr>Explaining the "Why": Three Layers of Honesty</vt:lpstr>
      <vt:lpstr>Datasets Used For Testing</vt:lpstr>
      <vt:lpstr>Performance Metrics (Against Our Synthetic Dataset)</vt:lpstr>
      <vt:lpstr>Performance Metrics (Against PaySim Dataset)</vt:lpstr>
      <vt:lpstr>The LLM: Narrator, Not Decider</vt:lpstr>
      <vt:lpstr>One Request, Cradle to Grave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Vigil: From Raw Transfers to Explainable Fraud Decisions</dc:title>
  <dc:subject>PptxGenJS Presentation</dc:subject>
  <dc:creator>PptxGenJS</dc:creator>
  <cp:lastModifiedBy>PptxGenJS</cp:lastModifiedBy>
  <cp:revision>15</cp:revision>
  <dcterms:created xsi:type="dcterms:W3CDTF">2026-10-03T16:23:02Z</dcterms:created>
  <dcterms:modified xsi:type="dcterms:W3CDTF">2026-10-03T16:30:31Z</dcterms:modified>
</cp:coreProperties>
</file>