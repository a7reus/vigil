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1385978240" y="0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6703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7878490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0193381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941784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0328209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465741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3287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3968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796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E5BEA7-90D7-4505-79D8-82275F5E2A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098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7002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8589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80493B-4013-F516-96E4-3AC464F0D8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947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8141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5485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4468B7-4BA4-44A0-A769-8529223FFE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5872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261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4084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E13367-0003-482F-91EE-012E7B4422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3451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10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25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9BFADB-E316-EFF7-7427-72D5AA6152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786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3500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124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8F913F-6F2A-FA58-E97D-1283A39EB2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018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925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3381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561CBA-6F8D-33CD-34FE-C696E0F9BA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533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2340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227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5D4D5B-59FB-2DA6-2533-12C052345F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950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8023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298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1343F-285E-338C-2817-139BACDE08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4367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3808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474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3D91F9-7BFF-6F34-3C1D-7B8340DC2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9157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9893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095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510308-A23A-903B-A936-82A5C7526F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5469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886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725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1EE7AF-68EA-DF72-7DB3-8C3E1B43EF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9779932" name="Google Shape;9;p2" descr=""/>
          <p:cNvPicPr/>
          <p:nvPr/>
        </p:nvPicPr>
        <p:blipFill rotWithShape="1">
          <a:blip r:embed="rId2"/>
          <a:stretch/>
        </p:blipFill>
        <p:spPr bwMode="auto"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9791370" name="PlaceHolder 1"/>
          <p:cNvSpPr>
            <a:spLocks noGrp="1"/>
          </p:cNvSpPr>
          <p:nvPr>
            <p:ph type="title"/>
          </p:nvPr>
        </p:nvSpPr>
        <p:spPr bwMode="auto">
          <a:xfrm>
            <a:off x="2353680" y="1593000"/>
            <a:ext cx="6866280" cy="250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  <a:defRPr/>
            </a:pPr>
            <a:r>
              <a:rPr lang="fr-FR" sz="50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5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68778175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USTOM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968145" name="PlaceHolder 1"/>
          <p:cNvSpPr>
            <a:spLocks noGrp="1"/>
          </p:cNvSpPr>
          <p:nvPr>
            <p:ph type="title"/>
          </p:nvPr>
        </p:nvSpPr>
        <p:spPr bwMode="auto">
          <a:xfrm>
            <a:off x="204840" y="316080"/>
            <a:ext cx="5562360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  <a:defRPr/>
            </a:pPr>
            <a:r>
              <a:rPr lang="fr-FR" sz="40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4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59924077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USTOM_3_1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7496962" name="Google Shape;94;p18" descr=""/>
          <p:cNvPicPr/>
          <p:nvPr/>
        </p:nvPicPr>
        <p:blipFill rotWithShape="1">
          <a:blip r:embed="rId2"/>
          <a:stretch/>
        </p:blipFill>
        <p:spPr bwMode="auto"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5517047" name="PlaceHolder 1"/>
          <p:cNvSpPr>
            <a:spLocks noGrp="1"/>
          </p:cNvSpPr>
          <p:nvPr>
            <p:ph type="title"/>
          </p:nvPr>
        </p:nvSpPr>
        <p:spPr bwMode="auto">
          <a:xfrm>
            <a:off x="3654000" y="650160"/>
            <a:ext cx="5281920" cy="23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  <a:defRPr/>
            </a:pPr>
            <a:r>
              <a:rPr lang="fr-FR" sz="50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5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25177210" name="Google Shape;97;p18"/>
          <p:cNvSpPr/>
          <p:nvPr/>
        </p:nvSpPr>
        <p:spPr bwMode="auto">
          <a:xfrm>
            <a:off x="228600" y="3847680"/>
            <a:ext cx="30931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" sz="1000" b="1" u="none" strike="noStrike">
                <a:solidFill>
                  <a:schemeClr val="dk1"/>
                </a:solidFill>
                <a:latin typeface="Open Sans"/>
                <a:ea typeface="Open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latin typeface="Open Sans"/>
                <a:ea typeface="Open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latin typeface="Open Sans"/>
                <a:ea typeface="Open Sans"/>
                <a:hlinkClick r:id="rId3" tooltip="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latin typeface="Open Sans"/>
                <a:ea typeface="Open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latin typeface="Open Sans"/>
                <a:ea typeface="Open Sans"/>
                <a:hlinkClick r:id="rId4" tooltip="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latin typeface="Open Sans"/>
                <a:ea typeface="Open Sans"/>
              </a:rPr>
              <a:t> </a:t>
            </a:r>
            <a:endParaRPr lang="en-US" sz="1000" b="0" u="none" strike="noStrike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_AND_BODY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341178" name="PlaceHolder 1"/>
          <p:cNvSpPr>
            <a:spLocks noGrp="1"/>
          </p:cNvSpPr>
          <p:nvPr>
            <p:ph type="title"/>
          </p:nvPr>
        </p:nvSpPr>
        <p:spPr bwMode="auto">
          <a:xfrm>
            <a:off x="239760" y="39708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  <a:defRPr/>
            </a:pPr>
            <a:r>
              <a:rPr lang="fr-FR" sz="26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lang="fr-FR" sz="26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3872892" name="PlaceHolder 2"/>
          <p:cNvSpPr>
            <a:spLocks noGrp="1"/>
          </p:cNvSpPr>
          <p:nvPr>
            <p:ph type="sldNum" idx="1"/>
          </p:nvPr>
        </p:nvSpPr>
        <p:spPr bwMode="auto"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3CAE0CA-CE45-424D-8A47-A8A17B7572D3}" type="slidenum">
              <a:rPr lang="en" sz="1800" b="0" u="none" strike="noStrike">
                <a:solidFill>
                  <a:schemeClr val="dk1"/>
                </a:solidFill>
                <a:latin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78894854" name="PlaceHolder 3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6E3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015556" name=""/>
          <p:cNvSpPr/>
          <p:nvPr/>
        </p:nvSpPr>
        <p:spPr bwMode="auto">
          <a:xfrm flipH="0" flipV="0">
            <a:off x="1338418" y="603321"/>
            <a:ext cx="7881179" cy="106355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p>
            <a:pPr>
              <a:defRPr/>
            </a:pPr>
            <a:r>
              <a:rPr sz="36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Vigil: From Raw Transfers to Explainable Fraud Decisions</a:t>
            </a:r>
            <a:endParaRPr sz="3600">
              <a:solidFill>
                <a:schemeClr val="tx1"/>
              </a:solidFill>
              <a:latin typeface="Bricolage Grotesque 24pt"/>
              <a:cs typeface="Bricolage Grotesque 24pt"/>
            </a:endParaRPr>
          </a:p>
        </p:txBody>
      </p:sp>
      <p:sp>
        <p:nvSpPr>
          <p:cNvPr id="1936736200" name=""/>
          <p:cNvSpPr/>
          <p:nvPr/>
        </p:nvSpPr>
        <p:spPr bwMode="auto">
          <a:xfrm flipH="0" flipV="0">
            <a:off x="1982757" y="2124915"/>
            <a:ext cx="7111685" cy="89366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p>
            <a:pPr>
              <a:defRPr/>
            </a:pPr>
            <a:r>
              <a:rPr sz="2000" b="1" i="0" u="none">
                <a:solidFill>
                  <a:schemeClr val="bg1">
                    <a:lumMod val="25000"/>
                  </a:schemeClr>
                </a:solidFill>
                <a:latin typeface="Bricolage Grotesque"/>
                <a:ea typeface="Bricolage Grotesque"/>
                <a:cs typeface="Bricolage Grotesque"/>
              </a:rPr>
              <a:t>A multi-layered AI system for fintech fraud detection that is fast, fair, and honest.</a:t>
            </a:r>
            <a:endParaRPr sz="2000">
              <a:solidFill>
                <a:schemeClr val="bg1">
                  <a:lumMod val="25000"/>
                </a:schemeClr>
              </a:solidFill>
              <a:latin typeface="Bricolage Grotesque"/>
              <a:cs typeface="Bricolage Grotesq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685883" name=""/>
          <p:cNvSpPr/>
          <p:nvPr/>
        </p:nvSpPr>
        <p:spPr bwMode="auto">
          <a:xfrm flipH="0" flipV="0">
            <a:off x="200160" y="314280"/>
            <a:ext cx="6652439" cy="603201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p>
            <a:pPr>
              <a:defRPr/>
            </a:pPr>
            <a:r>
              <a:rPr sz="36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The Problem: Fraud is a Story, Not a Rule</a:t>
            </a:r>
            <a:endParaRPr sz="360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  <p:sp>
        <p:nvSpPr>
          <p:cNvPr id="624500882" name=""/>
          <p:cNvSpPr/>
          <p:nvPr/>
        </p:nvSpPr>
        <p:spPr bwMode="auto">
          <a:xfrm flipH="0" flipV="0">
            <a:off x="961693" y="2302799"/>
            <a:ext cx="6909149" cy="252273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p>
            <a:pPr marL="283879" indent="-283879">
              <a:lnSpc>
                <a:spcPct val="114999"/>
              </a:lnSpc>
              <a:buAutoNum type="arabicPeriod"/>
              <a:defRPr/>
            </a:pPr>
            <a:r>
              <a:rPr sz="18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Social Engineering: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Urgent, large, night-time transfers to strangers from new devices.</a:t>
            </a:r>
            <a:endParaRPr sz="1800">
              <a:solidFill>
                <a:schemeClr val="tx1"/>
              </a:solidFill>
              <a:latin typeface="Bricolage Grotesque"/>
              <a:cs typeface="Bricolage Grotesque"/>
            </a:endParaRPr>
          </a:p>
          <a:p>
            <a:pPr marL="283879" indent="-283879">
              <a:lnSpc>
                <a:spcPct val="114999"/>
              </a:lnSpc>
              <a:buAutoNum type="arabicPeriod"/>
              <a:defRPr/>
            </a:pPr>
            <a:r>
              <a:rPr sz="18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Account Takeover (ATO):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New device + location jump + rapid transfers after a password reset.</a:t>
            </a:r>
            <a:endParaRPr sz="1800">
              <a:solidFill>
                <a:schemeClr val="tx1"/>
              </a:solidFill>
              <a:latin typeface="Bricolage Grotesque"/>
              <a:cs typeface="Bricolage Grotesque"/>
            </a:endParaRPr>
          </a:p>
          <a:p>
            <a:pPr marL="283879" indent="-283879">
              <a:lnSpc>
                <a:spcPct val="114999"/>
              </a:lnSpc>
              <a:buAutoNum type="arabicPeriod"/>
              <a:defRPr/>
            </a:pPr>
            <a:r>
              <a:rPr sz="18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Mule Ring: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Many senders → one receiver, round amounts, all within a tight time window.</a:t>
            </a:r>
            <a:endParaRPr sz="1800">
              <a:solidFill>
                <a:schemeClr val="tx1"/>
              </a:solidFill>
              <a:latin typeface="Bricolage Grotesque"/>
              <a:cs typeface="Bricolage Grotesque"/>
            </a:endParaRPr>
          </a:p>
          <a:p>
            <a:pPr marL="283879" indent="-283879">
              <a:lnSpc>
                <a:spcPct val="114999"/>
              </a:lnSpc>
              <a:buAutoNum type="arabicPeriod"/>
              <a:defRPr/>
            </a:pPr>
            <a:r>
              <a:rPr sz="18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Agent Anomaly: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A cash-out agent suddenly moving 3x its normal volume.</a:t>
            </a:r>
            <a:endParaRPr sz="180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  <p:sp>
        <p:nvSpPr>
          <p:cNvPr id="1322475733" name=""/>
          <p:cNvSpPr txBox="1"/>
          <p:nvPr/>
        </p:nvSpPr>
        <p:spPr bwMode="auto">
          <a:xfrm rot="0" flipH="0" flipV="0">
            <a:off x="200160" y="1519797"/>
            <a:ext cx="871703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Four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common scams, each with a </a:t>
            </a:r>
            <a:r>
              <a:rPr sz="1800" b="0" i="1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distinct signature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that simple rules can't catch without blocking innocent users:</a:t>
            </a:r>
            <a:endParaRPr sz="180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593267" name=""/>
          <p:cNvSpPr/>
          <p:nvPr/>
        </p:nvSpPr>
        <p:spPr bwMode="auto">
          <a:xfrm flipH="0" flipV="0">
            <a:off x="200160" y="314280"/>
            <a:ext cx="6652438" cy="6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p>
            <a:pPr>
              <a:defRPr/>
            </a:pPr>
            <a:r>
              <a:rPr lang="en-US" sz="2500" b="1" i="0" u="none" strike="noStrike" cap="none" spc="0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Our Solution: A 3-Layer AI Ensemble</a:t>
            </a:r>
            <a:endParaRPr sz="360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  <p:sp>
        <p:nvSpPr>
          <p:cNvPr id="1116744702" name=""/>
          <p:cNvSpPr txBox="1"/>
          <p:nvPr/>
        </p:nvSpPr>
        <p:spPr bwMode="auto">
          <a:xfrm rot="0" flipH="0" flipV="0">
            <a:off x="200160" y="1190624"/>
            <a:ext cx="8718118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We turn every transfer into 26 features (velocity, deviation, novelty, network shape) and feed them to three separate AI models that vote on a suspicion score.</a:t>
            </a:r>
            <a:endParaRPr sz="1800" b="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  <p:graphicFrame>
        <p:nvGraphicFramePr>
          <p:cNvPr id="1799377029" name=""/>
          <p:cNvGraphicFramePr>
            <a:graphicFrameLocks xmlns:a="http://schemas.openxmlformats.org/drawingml/2006/main"/>
          </p:cNvGraphicFramePr>
          <p:nvPr/>
        </p:nvGraphicFramePr>
        <p:xfrm rot="0">
          <a:off x="1523999" y="2151529"/>
          <a:ext cx="6095999" cy="216559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523999"/>
                <a:gridCol w="1523999"/>
                <a:gridCol w="1523999"/>
                <a:gridCol w="1523999"/>
              </a:tblGrid>
              <a:tr h="51967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Model</a:t>
                      </a:r>
                      <a:endParaRPr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What It Does</a:t>
                      </a:r>
                      <a:endParaRPr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How It Learns</a:t>
                      </a:r>
                      <a:endParaRPr sz="1400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Weight</a:t>
                      </a:r>
                      <a:endParaRPr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</a:tr>
              <a:tr h="51967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chemeClr val="dk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XGBoost Classifier</a:t>
                      </a:r>
                      <a:endParaRPr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000" b="0" i="0" u="none" strike="noStrike" cap="none" spc="0">
                          <a:solidFill>
                            <a:schemeClr val="dk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Recognizes known fraud patterns (e.g., scam, ATO).</a:t>
                      </a:r>
                      <a:endParaRPr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Supervised:</a:t>
                      </a:r>
                      <a:r>
                        <a:rPr sz="1000" b="0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 </a:t>
                      </a:r>
                      <a:r>
                        <a:rPr sz="1000" b="0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Trained on 50k labeled fraud/not-fraud cases.</a:t>
                      </a:r>
                      <a:endParaRPr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 b="1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70%</a:t>
                      </a:r>
                      <a:endParaRPr sz="1600" b="1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</a:tr>
              <a:tr h="51967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chemeClr val="dk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IsolationForest</a:t>
                      </a:r>
                      <a:endParaRPr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Detects brand-new, unseen fraud tricks.</a:t>
                      </a:r>
                      <a:endParaRPr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Unsupervised:</a:t>
                      </a:r>
                      <a:r>
                        <a:rPr sz="1000" b="0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 </a:t>
                      </a:r>
                      <a:r>
                        <a:rPr sz="1000" b="0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Trained only on</a:t>
                      </a:r>
                      <a:r>
                        <a:rPr sz="1000" b="0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 </a:t>
                      </a:r>
                      <a:r>
                        <a:rPr sz="1000" b="0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normal</a:t>
                      </a:r>
                      <a:r>
                        <a:rPr sz="1000" b="0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 </a:t>
                      </a:r>
                      <a:r>
                        <a:rPr sz="1000" b="0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transactions.</a:t>
                      </a:r>
                      <a:endParaRPr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20%</a:t>
                      </a:r>
                      <a:endParaRPr sz="1600" b="1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</a:tr>
              <a:tr h="51967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chemeClr val="dk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Graph Analysis</a:t>
                      </a:r>
                      <a:endParaRPr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0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Catches mule rings by analyzing wallet relationships.</a:t>
                      </a:r>
                      <a:endParaRPr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Network:</a:t>
                      </a:r>
                      <a:r>
                        <a:rPr sz="1000" b="0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 </a:t>
                      </a:r>
                      <a:r>
                        <a:rPr sz="1000" b="0" i="0" u="none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Finds many senders → one receiver (fan-in).</a:t>
                      </a:r>
                      <a:endParaRPr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10%</a:t>
                      </a:r>
                      <a:endParaRPr sz="1600" b="1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38353294" name=""/>
          <p:cNvSpPr txBox="1"/>
          <p:nvPr/>
        </p:nvSpPr>
        <p:spPr bwMode="auto">
          <a:xfrm rot="0" flipH="0" flipV="0">
            <a:off x="200160" y="4580071"/>
            <a:ext cx="87191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Final Score = (0.7 × Classifier) + (0.2 × Anomaly) + (0.1 × Graph)</a:t>
            </a:r>
            <a:endParaRPr sz="140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293756" name=""/>
          <p:cNvSpPr/>
          <p:nvPr/>
        </p:nvSpPr>
        <p:spPr bwMode="auto">
          <a:xfrm flipH="0" flipV="0">
            <a:off x="200160" y="314280"/>
            <a:ext cx="6652437" cy="60319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p>
            <a:pPr>
              <a:defRPr/>
            </a:pPr>
            <a:r>
              <a:rPr lang="en-US" sz="2500" b="1" i="0" u="none" strike="noStrike" cap="none" spc="0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Our Pipeline at a Glance</a:t>
            </a:r>
            <a:endParaRPr sz="360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  <p:pic>
        <p:nvPicPr>
          <p:cNvPr id="63500988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036233"/>
            <a:ext cx="9144000" cy="30710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287602" name=""/>
          <p:cNvSpPr/>
          <p:nvPr/>
        </p:nvSpPr>
        <p:spPr bwMode="auto">
          <a:xfrm flipH="0" flipV="0">
            <a:off x="476279" y="1933919"/>
            <a:ext cx="1914120" cy="2415362"/>
          </a:xfrm>
          <a:prstGeom prst="roundRect">
            <a:avLst>
              <a:gd name="adj" fmla="val 16667"/>
            </a:avLst>
          </a:prstGeom>
          <a:solidFill>
            <a:srgbClr val="3B2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534552578" name=""/>
          <p:cNvSpPr/>
          <p:nvPr/>
        </p:nvSpPr>
        <p:spPr bwMode="auto">
          <a:xfrm flipH="0" flipV="0">
            <a:off x="3480659" y="1933920"/>
            <a:ext cx="1914120" cy="2415362"/>
          </a:xfrm>
          <a:prstGeom prst="roundRect">
            <a:avLst>
              <a:gd name="adj" fmla="val 16667"/>
            </a:avLst>
          </a:prstGeom>
          <a:solidFill>
            <a:srgbClr val="3B2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817124596" name=""/>
          <p:cNvSpPr/>
          <p:nvPr/>
        </p:nvSpPr>
        <p:spPr bwMode="auto">
          <a:xfrm flipH="0" flipV="0">
            <a:off x="6486120" y="1933920"/>
            <a:ext cx="1914120" cy="2415362"/>
          </a:xfrm>
          <a:prstGeom prst="roundRect">
            <a:avLst>
              <a:gd name="adj" fmla="val 16667"/>
            </a:avLst>
          </a:prstGeom>
          <a:solidFill>
            <a:srgbClr val="3B2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1225331226" name=""/>
          <p:cNvSpPr/>
          <p:nvPr/>
        </p:nvSpPr>
        <p:spPr bwMode="auto"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300" b="1" i="0" u="none" strike="noStrike" cap="none" spc="0">
                <a:solidFill>
                  <a:srgbClr val="3B2A2A"/>
                </a:solidFill>
                <a:latin typeface="Bricolage Grotesque"/>
                <a:ea typeface="Bricolage Grotesque"/>
                <a:cs typeface="Bricolage Grotesque"/>
              </a:rPr>
              <a:t>From Score to Action: Kept Separate by Design</a:t>
            </a:r>
            <a:endParaRPr sz="360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  <p:sp>
        <p:nvSpPr>
          <p:cNvPr id="1367234785" name=""/>
          <p:cNvSpPr/>
          <p:nvPr/>
        </p:nvSpPr>
        <p:spPr bwMode="auto">
          <a:xfrm>
            <a:off x="476280" y="141984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rgbClr val="3B2A2A"/>
                </a:solidFill>
                <a:latin typeface="Bricolage Grotesque"/>
              </a:rPr>
              <a:t>01</a:t>
            </a:r>
            <a:endParaRPr lang="en-US" sz="24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457687182" name=""/>
          <p:cNvSpPr/>
          <p:nvPr/>
        </p:nvSpPr>
        <p:spPr bwMode="auto">
          <a:xfrm>
            <a:off x="666720" y="2200680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i="0" u="none" strike="noStrike" cap="none" spc="0">
                <a:solidFill>
                  <a:srgbClr val="E6E3DC"/>
                </a:solidFill>
                <a:latin typeface="Bricolage Grotesque"/>
                <a:ea typeface="Bricolage Grotesque"/>
                <a:cs typeface="Bricolage Grotesque"/>
              </a:rPr>
              <a:t>Score &gt; 0.85</a:t>
            </a: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302603528" name=""/>
          <p:cNvSpPr/>
          <p:nvPr/>
        </p:nvSpPr>
        <p:spPr bwMode="auto">
          <a:xfrm flipH="0" flipV="0">
            <a:off x="666719" y="2905200"/>
            <a:ext cx="1533240" cy="112191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p>
            <a:pPr marL="217793" indent="-217793" defTabSz="914400">
              <a:lnSpc>
                <a:spcPct val="150000"/>
              </a:lnSpc>
              <a:buFont typeface="Arial"/>
              <a:buChar char="•"/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6E3DC"/>
                </a:solidFill>
                <a:latin typeface="Bricolage Grotesque"/>
                <a:ea typeface="Bricolage Grotesque"/>
                <a:cs typeface="Bricolage Grotesque"/>
              </a:rPr>
              <a:t>Hold transaction</a:t>
            </a:r>
            <a:endParaRPr sz="1100" b="0" u="none" strike="noStrike">
              <a:solidFill>
                <a:srgbClr val="E6E3DC"/>
              </a:solidFill>
              <a:latin typeface="Bricolage Grotesque"/>
              <a:cs typeface="Bricolage Grotesque"/>
            </a:endParaRPr>
          </a:p>
          <a:p>
            <a:pPr marL="217793" indent="-217793" defTabSz="914400">
              <a:lnSpc>
                <a:spcPct val="150000"/>
              </a:lnSpc>
              <a:buFont typeface="Arial"/>
              <a:buChar char="•"/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6E3DC"/>
                </a:solidFill>
                <a:latin typeface="Bricolage Grotesque"/>
                <a:ea typeface="Bricolage Grotesque"/>
                <a:cs typeface="Bricolage Grotesque"/>
              </a:rPr>
              <a:t>Step-up Auth</a:t>
            </a:r>
            <a:endParaRPr sz="1100" b="0" u="none" strike="noStrike">
              <a:solidFill>
                <a:srgbClr val="E6E3DC"/>
              </a:solidFill>
              <a:latin typeface="Bricolage Grotesque"/>
              <a:cs typeface="Bricolage Grotesque"/>
            </a:endParaRPr>
          </a:p>
          <a:p>
            <a:pPr marL="217793" indent="-217793" defTabSz="914400">
              <a:lnSpc>
                <a:spcPct val="150000"/>
              </a:lnSpc>
              <a:buFont typeface="Arial"/>
              <a:buChar char="•"/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6E3DC"/>
                </a:solidFill>
                <a:latin typeface="Bricolage Grotesque"/>
                <a:ea typeface="Bricolage Grotesque"/>
                <a:cs typeface="Bricolage Grotesque"/>
              </a:rPr>
              <a:t>Human Review</a:t>
            </a:r>
            <a:endParaRPr sz="1100" b="0" u="none" strike="noStrike">
              <a:solidFill>
                <a:srgbClr val="000000"/>
              </a:solidFill>
              <a:latin typeface="Bricolage Grotesque"/>
              <a:cs typeface="Bricolage Grotesque"/>
            </a:endParaRPr>
          </a:p>
        </p:txBody>
      </p:sp>
      <p:sp>
        <p:nvSpPr>
          <p:cNvPr id="148795863" name=""/>
          <p:cNvSpPr/>
          <p:nvPr/>
        </p:nvSpPr>
        <p:spPr bwMode="auto">
          <a:xfrm>
            <a:off x="3480659" y="141984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rgbClr val="3B2A2A"/>
                </a:solidFill>
                <a:latin typeface="Bricolage Grotesque"/>
              </a:rPr>
              <a:t>02</a:t>
            </a:r>
            <a:endParaRPr lang="en-US" sz="24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51361590" name=""/>
          <p:cNvSpPr/>
          <p:nvPr/>
        </p:nvSpPr>
        <p:spPr bwMode="auto">
          <a:xfrm>
            <a:off x="3671459" y="2200680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i="0" u="none" strike="noStrike" cap="none" spc="0">
                <a:solidFill>
                  <a:srgbClr val="E6E3DC"/>
                </a:solidFill>
                <a:latin typeface="Bricolage Grotesque"/>
                <a:ea typeface="Bricolage Grotesque"/>
                <a:cs typeface="Bricolage Grotesque"/>
              </a:rPr>
              <a:t>Score 0.60 – 0.85</a:t>
            </a:r>
            <a:endParaRPr sz="1400" b="1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99876969" name=""/>
          <p:cNvSpPr/>
          <p:nvPr/>
        </p:nvSpPr>
        <p:spPr bwMode="auto">
          <a:xfrm>
            <a:off x="3671459" y="2905200"/>
            <a:ext cx="153324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17793" indent="-217793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E6E3DC"/>
                </a:solidFill>
                <a:latin typeface="Raleway Medium"/>
              </a:rPr>
              <a:t>Review transaction</a:t>
            </a:r>
            <a:endParaRPr lang="en-US" sz="12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941081859" name=""/>
          <p:cNvSpPr/>
          <p:nvPr/>
        </p:nvSpPr>
        <p:spPr bwMode="auto">
          <a:xfrm>
            <a:off x="6486120" y="141984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rgbClr val="3B2A2A"/>
                </a:solidFill>
                <a:latin typeface="Bricolage Grotesque"/>
              </a:rPr>
              <a:t>03</a:t>
            </a:r>
            <a:endParaRPr lang="en-US" sz="24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936307516" name=""/>
          <p:cNvSpPr/>
          <p:nvPr/>
        </p:nvSpPr>
        <p:spPr bwMode="auto">
          <a:xfrm>
            <a:off x="6676560" y="2200680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i="0" u="none" strike="noStrike" cap="none" spc="0">
                <a:solidFill>
                  <a:srgbClr val="E6E3DC"/>
                </a:solidFill>
                <a:latin typeface="Bricolage Grotesque"/>
                <a:ea typeface="Bricolage Grotesque"/>
                <a:cs typeface="Bricolage Grotesque"/>
              </a:rPr>
              <a:t>Score &lt; 0.60</a:t>
            </a:r>
            <a:endParaRPr sz="1200" b="1" u="none" strike="noStrike">
              <a:solidFill>
                <a:srgbClr val="000000"/>
              </a:solidFill>
              <a:latin typeface="Bricolage Grotesque"/>
              <a:cs typeface="Bricolage Grotesque"/>
            </a:endParaRPr>
          </a:p>
        </p:txBody>
      </p:sp>
      <p:sp>
        <p:nvSpPr>
          <p:cNvPr id="580159938" name=""/>
          <p:cNvSpPr/>
          <p:nvPr/>
        </p:nvSpPr>
        <p:spPr bwMode="auto">
          <a:xfrm>
            <a:off x="6676560" y="2891160"/>
            <a:ext cx="153324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17793" indent="-217793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E6E3DC"/>
                </a:solidFill>
                <a:latin typeface="Raleway Medium"/>
              </a:rPr>
              <a:t>Allow transaction</a:t>
            </a:r>
            <a:endParaRPr lang="en-US" sz="12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4239147" name=""/>
          <p:cNvSpPr txBox="1"/>
          <p:nvPr/>
        </p:nvSpPr>
        <p:spPr bwMode="auto">
          <a:xfrm rot="0" flipH="0" flipV="0">
            <a:off x="476280" y="896470"/>
            <a:ext cx="697674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The math is honest and tunable. Business policy is editable without retraining.</a:t>
            </a:r>
            <a:endParaRPr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490434" name=""/>
          <p:cNvSpPr/>
          <p:nvPr/>
        </p:nvSpPr>
        <p:spPr bwMode="auto">
          <a:xfrm flipH="0" flipV="0">
            <a:off x="200160" y="314280"/>
            <a:ext cx="7252468" cy="6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p>
            <a:pPr>
              <a:defRPr/>
            </a:pPr>
            <a:r>
              <a:rPr lang="en-US" sz="2500" b="1" i="0" u="none" strike="noStrike" cap="none" spc="0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Explaining the "Why": Three Layers of Honesty</a:t>
            </a:r>
            <a:endParaRPr sz="360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  <p:sp>
        <p:nvSpPr>
          <p:cNvPr id="776256325" name=""/>
          <p:cNvSpPr/>
          <p:nvPr/>
        </p:nvSpPr>
        <p:spPr bwMode="auto">
          <a:xfrm flipH="0" flipV="0">
            <a:off x="200160" y="1511383"/>
            <a:ext cx="7252468" cy="25227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p>
            <a:pPr marL="283878" indent="-283878">
              <a:lnSpc>
                <a:spcPct val="114999"/>
              </a:lnSpc>
              <a:buAutoNum type="arabicPeriod"/>
              <a:defRPr/>
            </a:pPr>
            <a:r>
              <a:rPr sz="18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Auditable Rules First: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Plain facts an analyst can verify ("new device", "amount 15x average").</a:t>
            </a:r>
            <a:endParaRPr sz="1800">
              <a:solidFill>
                <a:schemeClr val="tx1"/>
              </a:solidFill>
              <a:latin typeface="Bricolage Grotesque"/>
              <a:ea typeface="Bricolage Grotesque"/>
              <a:cs typeface="Bricolage Grotesque"/>
            </a:endParaRPr>
          </a:p>
          <a:p>
            <a:pPr marL="283878" indent="-283878">
              <a:lnSpc>
                <a:spcPct val="114999"/>
              </a:lnSpc>
              <a:buAutoNum type="arabicPeriod"/>
              <a:defRPr/>
            </a:pPr>
            <a:endParaRPr sz="1800">
              <a:solidFill>
                <a:schemeClr val="tx1"/>
              </a:solidFill>
              <a:latin typeface="Bricolage Grotesque"/>
              <a:cs typeface="Bricolage Grotesque"/>
            </a:endParaRPr>
          </a:p>
          <a:p>
            <a:pPr marL="283878" indent="-283878">
              <a:lnSpc>
                <a:spcPct val="114999"/>
              </a:lnSpc>
              <a:buAutoNum type="arabicPeriod"/>
              <a:defRPr/>
            </a:pPr>
            <a:r>
              <a:rPr sz="18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SHAP Values: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Fairly divides credit for the score among features for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1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this specific transaction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(e.g., "receiver fan-in added +3.80 to suspicion").</a:t>
            </a:r>
            <a:endParaRPr sz="1800">
              <a:solidFill>
                <a:schemeClr val="tx1"/>
              </a:solidFill>
              <a:latin typeface="Bricolage Grotesque"/>
              <a:ea typeface="Bricolage Grotesque"/>
              <a:cs typeface="Bricolage Grotesque"/>
            </a:endParaRPr>
          </a:p>
          <a:p>
            <a:pPr marL="283878" indent="-283878">
              <a:lnSpc>
                <a:spcPct val="114999"/>
              </a:lnSpc>
              <a:buAutoNum type="arabicPeriod"/>
              <a:defRPr/>
            </a:pPr>
            <a:endParaRPr sz="1800">
              <a:solidFill>
                <a:schemeClr val="tx1"/>
              </a:solidFill>
              <a:latin typeface="Bricolage Grotesque"/>
              <a:cs typeface="Bricolage Grotesque"/>
            </a:endParaRPr>
          </a:p>
          <a:p>
            <a:pPr marL="283878" indent="-283878">
              <a:lnSpc>
                <a:spcPct val="114999"/>
              </a:lnSpc>
              <a:buAutoNum type="arabicPeriod"/>
              <a:defRPr/>
            </a:pPr>
            <a:r>
              <a:rPr sz="18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Global Importance: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A backfill for minimal installs.</a:t>
            </a:r>
            <a:endParaRPr sz="180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791773" name=""/>
          <p:cNvSpPr/>
          <p:nvPr/>
        </p:nvSpPr>
        <p:spPr bwMode="auto">
          <a:xfrm flipH="0" flipV="0">
            <a:off x="200160" y="314280"/>
            <a:ext cx="6652437" cy="60319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p>
            <a:pPr algn="l">
              <a:defRPr/>
            </a:pPr>
            <a:r>
              <a:rPr lang="en-US" sz="2600" b="1" i="0" u="none" strike="noStrike" cap="none" spc="0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Datasets Used For Testing</a:t>
            </a:r>
            <a:endParaRPr sz="260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  <p:sp>
        <p:nvSpPr>
          <p:cNvPr id="1786232915" name=""/>
          <p:cNvSpPr txBox="1"/>
          <p:nvPr/>
        </p:nvSpPr>
        <p:spPr bwMode="auto">
          <a:xfrm rot="0" flipH="0" flipV="0">
            <a:off x="200160" y="1190623"/>
            <a:ext cx="8835477" cy="1189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We’ve tested our model against our generated synthetic dataset and a larger dataset we’ve collected from Kaggle (PaySim) after adapting it a bit. No fine-tuning was done based on these datasets. The model never saw these datasets while training.</a:t>
            </a:r>
            <a:endParaRPr sz="1800" b="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  <p:graphicFrame>
        <p:nvGraphicFramePr>
          <p:cNvPr id="347175996" name=""/>
          <p:cNvGraphicFramePr>
            <a:graphicFrameLocks xmlns:a="http://schemas.openxmlformats.org/drawingml/2006/main"/>
          </p:cNvGraphicFramePr>
          <p:nvPr/>
        </p:nvGraphicFramePr>
        <p:xfrm rot="0">
          <a:off x="200160" y="2780619"/>
          <a:ext cx="6095999" cy="10972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240000"/>
                <a:gridCol w="1620000"/>
                <a:gridCol w="1624667"/>
                <a:gridCol w="2161555"/>
              </a:tblGrid>
              <a:tr h="44390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Dataset</a:t>
                      </a:r>
                      <a:endParaRPr sz="1600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Transactions</a:t>
                      </a:r>
                      <a:endParaRPr sz="1600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Fraud Cases</a:t>
                      </a:r>
                      <a:endParaRPr sz="1600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Key Signals</a:t>
                      </a:r>
                      <a:endParaRPr sz="1600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</a:tr>
              <a:tr h="70285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Generated Synthetic Dataset</a:t>
                      </a:r>
                      <a:endParaRPr sz="1600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50,000</a:t>
                      </a:r>
                      <a:endParaRPr sz="1600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~2,000</a:t>
                      </a:r>
                      <a:endParaRPr sz="1600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Device, location, reset, velocity, graph</a:t>
                      </a:r>
                      <a:endParaRPr sz="1600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</a:tr>
              <a:tr h="44390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PaySim Dataset</a:t>
                      </a:r>
                      <a:endParaRPr sz="1600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108,213</a:t>
                      </a:r>
                      <a:endParaRPr sz="1600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8,213</a:t>
                      </a:r>
                      <a:endParaRPr sz="1600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Bricolage Grotesque"/>
                          <a:ea typeface="Bricolage Grotesque"/>
                          <a:cs typeface="Bricolage Grotesque"/>
                        </a:rPr>
                        <a:t>Amount, velocity, type, graph</a:t>
                      </a:r>
                      <a:endParaRPr sz="1600">
                        <a:solidFill>
                          <a:schemeClr val="tx1"/>
                        </a:solidFill>
                        <a:latin typeface="Bricolage Grotesque"/>
                        <a:cs typeface="Bricolage Grotesque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668228" name=""/>
          <p:cNvSpPr/>
          <p:nvPr/>
        </p:nvSpPr>
        <p:spPr bwMode="auto">
          <a:xfrm>
            <a:off x="476280" y="380880"/>
            <a:ext cx="8191080" cy="3614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400" b="1" u="none" strike="noStrike">
                <a:solidFill>
                  <a:srgbClr val="3B2A2A"/>
                </a:solidFill>
                <a:latin typeface="Bricolage Grotesque"/>
              </a:rPr>
              <a:t>Performance Metrics (Against Our Synthetic Dataset)</a:t>
            </a:r>
            <a:endParaRPr lang="en-US" sz="24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351955268" name=""/>
          <p:cNvSpPr/>
          <p:nvPr/>
        </p:nvSpPr>
        <p:spPr bwMode="auto">
          <a:xfrm>
            <a:off x="476280" y="1428840"/>
            <a:ext cx="2381040" cy="3614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3B2A2A"/>
                </a:solidFill>
                <a:latin typeface="Raleway Medium"/>
              </a:rPr>
              <a:t>AUC</a:t>
            </a:r>
            <a:endParaRPr lang="en-US" sz="14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81232801" name=""/>
          <p:cNvSpPr/>
          <p:nvPr/>
        </p:nvSpPr>
        <p:spPr bwMode="auto">
          <a:xfrm>
            <a:off x="3048120" y="1428840"/>
            <a:ext cx="2571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3B2A2A"/>
                </a:solidFill>
                <a:latin typeface="Raleway Medium"/>
              </a:rPr>
              <a:t>Industry-leading discrimination vs rule baseline 0.8119</a:t>
            </a:r>
            <a:endParaRPr lang="en-US" sz="12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08820163" name=""/>
          <p:cNvSpPr/>
          <p:nvPr/>
        </p:nvSpPr>
        <p:spPr bwMode="auto">
          <a:xfrm>
            <a:off x="5810400" y="142884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3600" b="0" u="none" strike="noStrike">
                <a:solidFill>
                  <a:srgbClr val="3B2A2A"/>
                </a:solidFill>
                <a:latin typeface="Bricolage Grotesque"/>
                <a:ea typeface="Bricolage Grotesque"/>
                <a:cs typeface="Bricolage Grotesque"/>
              </a:rPr>
              <a:t>0.9982</a:t>
            </a:r>
            <a:endParaRPr sz="3600" b="0" u="none" strike="noStrike">
              <a:solidFill>
                <a:srgbClr val="000000"/>
              </a:solidFill>
              <a:latin typeface="Bricolage Grotesque"/>
              <a:cs typeface="Bricolage Grotesque"/>
            </a:endParaRPr>
          </a:p>
        </p:txBody>
      </p:sp>
      <p:sp>
        <p:nvSpPr>
          <p:cNvPr id="1038507100" name=""/>
          <p:cNvSpPr/>
          <p:nvPr/>
        </p:nvSpPr>
        <p:spPr bwMode="auto">
          <a:xfrm>
            <a:off x="476280" y="2238480"/>
            <a:ext cx="2381040" cy="3614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3B2A2A"/>
                </a:solidFill>
                <a:latin typeface="Raleway Medium"/>
              </a:rPr>
              <a:t>Recall@5%FPR</a:t>
            </a:r>
            <a:endParaRPr lang="en-US" sz="14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91135703" name=""/>
          <p:cNvSpPr/>
          <p:nvPr/>
        </p:nvSpPr>
        <p:spPr bwMode="auto">
          <a:xfrm>
            <a:off x="3048120" y="2238480"/>
            <a:ext cx="2571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3B2A2A"/>
                </a:solidFill>
                <a:latin typeface="Raleway Medium"/>
              </a:rPr>
              <a:t>Vs baseline 0.2149; near-perfect detection</a:t>
            </a:r>
            <a:endParaRPr lang="en-US" sz="12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173319271" name=""/>
          <p:cNvSpPr/>
          <p:nvPr/>
        </p:nvSpPr>
        <p:spPr bwMode="auto">
          <a:xfrm>
            <a:off x="5810400" y="223848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3600" b="0" u="none" strike="noStrike">
                <a:solidFill>
                  <a:srgbClr val="3B2A2A"/>
                </a:solidFill>
                <a:latin typeface="Bricolage Grotesque"/>
                <a:ea typeface="Bricolage Grotesque"/>
                <a:cs typeface="Bricolage Grotesque"/>
              </a:rPr>
              <a:t>0.9938</a:t>
            </a:r>
            <a:endParaRPr sz="3600" b="0" u="none" strike="noStrike">
              <a:solidFill>
                <a:srgbClr val="000000"/>
              </a:solidFill>
              <a:latin typeface="Bricolage Grotesque"/>
              <a:cs typeface="Bricolage Grotesque"/>
            </a:endParaRPr>
          </a:p>
        </p:txBody>
      </p:sp>
      <p:sp>
        <p:nvSpPr>
          <p:cNvPr id="2020278272" name=""/>
          <p:cNvSpPr/>
          <p:nvPr/>
        </p:nvSpPr>
        <p:spPr bwMode="auto">
          <a:xfrm>
            <a:off x="476280" y="3048120"/>
            <a:ext cx="2381040" cy="3614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3B2A2A"/>
                </a:solidFill>
                <a:latin typeface="Raleway Medium"/>
              </a:rPr>
              <a:t>Precision@100</a:t>
            </a:r>
            <a:endParaRPr lang="en-US" sz="14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99486023" name=""/>
          <p:cNvSpPr/>
          <p:nvPr/>
        </p:nvSpPr>
        <p:spPr bwMode="auto">
          <a:xfrm>
            <a:off x="3048120" y="3048120"/>
            <a:ext cx="25714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3B2A2A"/>
                </a:solidFill>
                <a:latin typeface="Raleway Medium"/>
              </a:rPr>
              <a:t>Precision at top-100 candidates. The rule-based baseline gives 0.86</a:t>
            </a:r>
            <a:endParaRPr lang="en-US" sz="12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420635606" name=""/>
          <p:cNvSpPr/>
          <p:nvPr/>
        </p:nvSpPr>
        <p:spPr bwMode="auto">
          <a:xfrm>
            <a:off x="5810400" y="304812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3600" b="0" u="none" strike="noStrike">
                <a:solidFill>
                  <a:srgbClr val="3B2A2A"/>
                </a:solidFill>
                <a:latin typeface="Bricolage Grotesque"/>
                <a:ea typeface="Bricolage Grotesque"/>
                <a:cs typeface="Bricolage Grotesque"/>
              </a:rPr>
              <a:t>1.0</a:t>
            </a:r>
            <a:endParaRPr sz="3600" b="0" u="none" strike="noStrike">
              <a:solidFill>
                <a:srgbClr val="000000"/>
              </a:solidFill>
              <a:latin typeface="Bricolage Grotesque"/>
              <a:cs typeface="Bricolage Grotesque"/>
            </a:endParaRPr>
          </a:p>
        </p:txBody>
      </p:sp>
      <p:sp>
        <p:nvSpPr>
          <p:cNvPr id="924163447" name=""/>
          <p:cNvSpPr/>
          <p:nvPr/>
        </p:nvSpPr>
        <p:spPr bwMode="auto">
          <a:xfrm>
            <a:off x="476280" y="3857760"/>
            <a:ext cx="2381040" cy="3614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3B2A2A"/>
                </a:solidFill>
                <a:latin typeface="Raleway Medium"/>
              </a:rPr>
              <a:t>p95 Latency</a:t>
            </a:r>
            <a:endParaRPr lang="en-US" sz="14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887836859" name=""/>
          <p:cNvSpPr/>
          <p:nvPr/>
        </p:nvSpPr>
        <p:spPr bwMode="auto">
          <a:xfrm>
            <a:off x="3048120" y="3857760"/>
            <a:ext cx="25714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3B2A2A"/>
                </a:solidFill>
                <a:latin typeface="Raleway Medium"/>
              </a:rPr>
              <a:t>Approximately 26 ms; production latency suitable for real-time flow.</a:t>
            </a:r>
            <a:endParaRPr lang="en-US" sz="12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442566684" name=""/>
          <p:cNvSpPr/>
          <p:nvPr/>
        </p:nvSpPr>
        <p:spPr bwMode="auto">
          <a:xfrm>
            <a:off x="5810400" y="385776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3600" b="0" u="none" strike="noStrike">
                <a:solidFill>
                  <a:srgbClr val="3B2A2A"/>
                </a:solidFill>
                <a:latin typeface="Bricolage Grotesque"/>
                <a:ea typeface="Bricolage Grotesque"/>
                <a:cs typeface="Bricolage Grotesque"/>
              </a:rPr>
              <a:t>25.9ms</a:t>
            </a:r>
            <a:endParaRPr sz="3600" b="0" u="none" strike="noStrike">
              <a:solidFill>
                <a:srgbClr val="000000"/>
              </a:solidFill>
              <a:latin typeface="Bricolage Grotesque"/>
              <a:cs typeface="Bricolage Grotesq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124569" name=""/>
          <p:cNvSpPr/>
          <p:nvPr/>
        </p:nvSpPr>
        <p:spPr bwMode="auto">
          <a:xfrm>
            <a:off x="476280" y="380880"/>
            <a:ext cx="8191080" cy="36143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400" b="1" u="none" strike="noStrike">
                <a:solidFill>
                  <a:srgbClr val="3B2A2A"/>
                </a:solidFill>
                <a:latin typeface="Bricolage Grotesque"/>
              </a:rPr>
              <a:t>Performance Metrics (Against PaySim Dataset)</a:t>
            </a:r>
            <a:endParaRPr lang="en-US" sz="24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330720" name=""/>
          <p:cNvSpPr/>
          <p:nvPr/>
        </p:nvSpPr>
        <p:spPr bwMode="auto">
          <a:xfrm>
            <a:off x="476280" y="1428840"/>
            <a:ext cx="2381040" cy="36143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3B2A2A"/>
                </a:solidFill>
                <a:latin typeface="Raleway Medium"/>
              </a:rPr>
              <a:t>AUC</a:t>
            </a:r>
            <a:endParaRPr lang="en-US" sz="14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73682052" name=""/>
          <p:cNvSpPr/>
          <p:nvPr/>
        </p:nvSpPr>
        <p:spPr bwMode="auto">
          <a:xfrm>
            <a:off x="3048120" y="1428840"/>
            <a:ext cx="2571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3B2A2A"/>
                </a:solidFill>
                <a:latin typeface="Raleway Medium"/>
              </a:rPr>
              <a:t>Extremely good discrimination vs rule-based baseline 0.5049.</a:t>
            </a:r>
            <a:endParaRPr lang="en-US" sz="12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78017178" name=""/>
          <p:cNvSpPr/>
          <p:nvPr/>
        </p:nvSpPr>
        <p:spPr bwMode="auto">
          <a:xfrm>
            <a:off x="5810400" y="142884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3600" b="0" u="none" strike="noStrike">
                <a:solidFill>
                  <a:srgbClr val="3B2A2A"/>
                </a:solidFill>
                <a:latin typeface="Bricolage Grotesque"/>
                <a:ea typeface="Bricolage Grotesque"/>
                <a:cs typeface="Bricolage Grotesque"/>
              </a:rPr>
              <a:t>0.8985</a:t>
            </a:r>
            <a:endParaRPr sz="3600" b="0" u="none" strike="noStrike">
              <a:solidFill>
                <a:srgbClr val="000000"/>
              </a:solidFill>
              <a:latin typeface="Bricolage Grotesque"/>
              <a:cs typeface="Bricolage Grotesque"/>
            </a:endParaRPr>
          </a:p>
        </p:txBody>
      </p:sp>
      <p:sp>
        <p:nvSpPr>
          <p:cNvPr id="153602109" name=""/>
          <p:cNvSpPr/>
          <p:nvPr/>
        </p:nvSpPr>
        <p:spPr bwMode="auto">
          <a:xfrm>
            <a:off x="476280" y="2238480"/>
            <a:ext cx="2381040" cy="36143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3B2A2A"/>
                </a:solidFill>
                <a:latin typeface="Raleway Medium"/>
                <a:ea typeface="Raleway Medium"/>
                <a:cs typeface="Raleway Medium"/>
              </a:rPr>
              <a:t>Recall</a:t>
            </a:r>
            <a:r>
              <a:rPr lang="en-US" sz="1400" b="0" u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</a:rPr>
              <a:t>@5%FPR</a:t>
            </a:r>
            <a:endParaRPr sz="1400" b="0" u="none" strike="noStrike">
              <a:solidFill>
                <a:srgbClr val="000000"/>
              </a:solidFill>
              <a:latin typeface="Raleway Medium"/>
              <a:cs typeface="Raleway Medium"/>
            </a:endParaRPr>
          </a:p>
        </p:txBody>
      </p:sp>
      <p:sp>
        <p:nvSpPr>
          <p:cNvPr id="260909993" name=""/>
          <p:cNvSpPr/>
          <p:nvPr/>
        </p:nvSpPr>
        <p:spPr bwMode="auto">
          <a:xfrm flipH="0" flipV="0">
            <a:off x="3048120" y="2238480"/>
            <a:ext cx="25714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3B2A2A"/>
                </a:solidFill>
                <a:latin typeface="Raleway Medium"/>
              </a:rPr>
              <a:t>Vs rule-based baseline of 0.00; significant improvement in detection.</a:t>
            </a:r>
            <a:endParaRPr lang="en-US" sz="12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82558850" name=""/>
          <p:cNvSpPr/>
          <p:nvPr/>
        </p:nvSpPr>
        <p:spPr bwMode="auto">
          <a:xfrm>
            <a:off x="5810400" y="223848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3600" b="0" u="none" strike="noStrike">
                <a:solidFill>
                  <a:srgbClr val="3B2A2A"/>
                </a:solidFill>
                <a:latin typeface="Bricolage Grotesque"/>
                <a:ea typeface="Bricolage Grotesque"/>
                <a:cs typeface="Bricolage Grotesque"/>
              </a:rPr>
              <a:t>0.6286</a:t>
            </a:r>
            <a:endParaRPr sz="3600" b="0" u="none" strike="noStrike">
              <a:solidFill>
                <a:srgbClr val="000000"/>
              </a:solidFill>
              <a:latin typeface="Bricolage Grotesque"/>
              <a:cs typeface="Bricolage Grotesque"/>
            </a:endParaRPr>
          </a:p>
        </p:txBody>
      </p:sp>
      <p:sp>
        <p:nvSpPr>
          <p:cNvPr id="412593330" name=""/>
          <p:cNvSpPr/>
          <p:nvPr/>
        </p:nvSpPr>
        <p:spPr bwMode="auto">
          <a:xfrm>
            <a:off x="476280" y="3048120"/>
            <a:ext cx="2381040" cy="36143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3B2A2A"/>
                </a:solidFill>
                <a:latin typeface="Raleway Medium"/>
                <a:ea typeface="Raleway Medium"/>
                <a:cs typeface="Raleway Medium"/>
              </a:rPr>
              <a:t>Precision@100</a:t>
            </a:r>
            <a:endParaRPr sz="1400" b="0" u="none" strike="noStrike">
              <a:solidFill>
                <a:srgbClr val="000000"/>
              </a:solidFill>
              <a:latin typeface="Raleway Medium"/>
              <a:cs typeface="Raleway Medium"/>
            </a:endParaRPr>
          </a:p>
        </p:txBody>
      </p:sp>
      <p:sp>
        <p:nvSpPr>
          <p:cNvPr id="1186430491" name=""/>
          <p:cNvSpPr/>
          <p:nvPr/>
        </p:nvSpPr>
        <p:spPr bwMode="auto">
          <a:xfrm>
            <a:off x="3048120" y="3048120"/>
            <a:ext cx="25714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3B2A2A"/>
                </a:solidFill>
                <a:latin typeface="Raleway Medium"/>
              </a:rPr>
              <a:t>Precision at top-100 candidates (high early precision; exact value shown in full report). Rule based system gets 0.83</a:t>
            </a:r>
            <a:endParaRPr lang="en-US" sz="12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910676131" name=""/>
          <p:cNvSpPr/>
          <p:nvPr/>
        </p:nvSpPr>
        <p:spPr bwMode="auto">
          <a:xfrm>
            <a:off x="5810400" y="304812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3600" b="0" u="none" strike="noStrike">
                <a:solidFill>
                  <a:srgbClr val="3B2A2A"/>
                </a:solidFill>
                <a:latin typeface="Bricolage Grotesque"/>
                <a:ea typeface="Bricolage Grotesque"/>
                <a:cs typeface="Bricolage Grotesque"/>
              </a:rPr>
              <a:t>1.00</a:t>
            </a:r>
            <a:endParaRPr sz="3600" b="0" u="none" strike="noStrike">
              <a:solidFill>
                <a:srgbClr val="000000"/>
              </a:solidFill>
              <a:latin typeface="Bricolage Grotesque"/>
              <a:cs typeface="Bricolage Grotesque"/>
            </a:endParaRPr>
          </a:p>
        </p:txBody>
      </p:sp>
      <p:sp>
        <p:nvSpPr>
          <p:cNvPr id="1087433816" name=""/>
          <p:cNvSpPr/>
          <p:nvPr/>
        </p:nvSpPr>
        <p:spPr bwMode="auto">
          <a:xfrm>
            <a:off x="476280" y="3857760"/>
            <a:ext cx="2381040" cy="36143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3B2A2A"/>
                </a:solidFill>
                <a:latin typeface="Raleway Medium"/>
              </a:rPr>
              <a:t>p95 Latency</a:t>
            </a:r>
            <a:endParaRPr lang="en-US" sz="14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607579963" name=""/>
          <p:cNvSpPr/>
          <p:nvPr/>
        </p:nvSpPr>
        <p:spPr bwMode="auto">
          <a:xfrm>
            <a:off x="3048120" y="3857760"/>
            <a:ext cx="25714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3B2A2A"/>
                </a:solidFill>
                <a:latin typeface="Raleway Medium"/>
              </a:rPr>
              <a:t>Approximately 23 ms; production latency suitable for real-time flow.</a:t>
            </a:r>
            <a:endParaRPr lang="en-US" sz="12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350011430" name=""/>
          <p:cNvSpPr/>
          <p:nvPr/>
        </p:nvSpPr>
        <p:spPr bwMode="auto">
          <a:xfrm>
            <a:off x="5810400" y="385776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3600" b="0" u="none" strike="noStrike">
                <a:solidFill>
                  <a:srgbClr val="3B2A2A"/>
                </a:solidFill>
                <a:latin typeface="Bricolage Grotesque"/>
                <a:ea typeface="Bricolage Grotesque"/>
                <a:cs typeface="Bricolage Grotesque"/>
              </a:rPr>
              <a:t>23.2ms</a:t>
            </a:r>
            <a:endParaRPr sz="3600" b="0" u="none" strike="noStrike">
              <a:solidFill>
                <a:srgbClr val="000000"/>
              </a:solidFill>
              <a:latin typeface="Bricolage Grotesque"/>
              <a:cs typeface="Bricolage Grotesq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253234" name=""/>
          <p:cNvSpPr/>
          <p:nvPr/>
        </p:nvSpPr>
        <p:spPr bwMode="auto">
          <a:xfrm flipH="0" flipV="0">
            <a:off x="200160" y="314280"/>
            <a:ext cx="7252467" cy="6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p>
            <a:pPr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The LLM: Narrator, Not Decider</a:t>
            </a:r>
            <a:endParaRPr sz="360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  <p:sp>
        <p:nvSpPr>
          <p:cNvPr id="956996078" name=""/>
          <p:cNvSpPr/>
          <p:nvPr/>
        </p:nvSpPr>
        <p:spPr bwMode="auto">
          <a:xfrm flipH="0" flipV="0">
            <a:off x="200160" y="1511382"/>
            <a:ext cx="7252467" cy="2522732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p>
            <a:pPr marL="283878" indent="-283878">
              <a:lnSpc>
                <a:spcPct val="114999"/>
              </a:lnSpc>
              <a:buAutoNum type="arabicPeriod"/>
              <a:defRPr/>
            </a:pPr>
            <a:r>
              <a:rPr sz="18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Zero Detection: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The LLM cannot see fraud or affect the score.</a:t>
            </a:r>
            <a:endParaRPr sz="1800">
              <a:solidFill>
                <a:schemeClr val="tx1"/>
              </a:solidFill>
              <a:latin typeface="Bricolage Grotesque"/>
              <a:ea typeface="Bricolage Grotesque"/>
              <a:cs typeface="Bricolage Grotesque"/>
            </a:endParaRPr>
          </a:p>
          <a:p>
            <a:pPr marL="283878" indent="-283878">
              <a:lnSpc>
                <a:spcPct val="114999"/>
              </a:lnSpc>
              <a:buAutoNum type="arabicPeriod"/>
              <a:defRPr/>
            </a:pPr>
            <a:endParaRPr sz="1800">
              <a:solidFill>
                <a:schemeClr val="tx1"/>
              </a:solidFill>
              <a:latin typeface="Bricolage Grotesque"/>
              <a:cs typeface="Bricolage Grotesque"/>
            </a:endParaRPr>
          </a:p>
          <a:p>
            <a:pPr marL="283878" indent="-283878">
              <a:lnSpc>
                <a:spcPct val="114999"/>
              </a:lnSpc>
              <a:buAutoNum type="arabicPeriod"/>
              <a:defRPr/>
            </a:pPr>
            <a:r>
              <a:rPr sz="18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Grounded Summary: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It receives a JSON bundle of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1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already-computed facts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and writes a plain-English (or Bangla) case summary for analysts.</a:t>
            </a:r>
            <a:endParaRPr sz="1800" b="0" i="0" u="none">
              <a:solidFill>
                <a:schemeClr val="tx1"/>
              </a:solidFill>
              <a:latin typeface="Bricolage Grotesque"/>
              <a:ea typeface="Bricolage Grotesque"/>
              <a:cs typeface="Bricolage Grotesque"/>
            </a:endParaRPr>
          </a:p>
          <a:p>
            <a:pPr marL="283878" indent="-283878">
              <a:lnSpc>
                <a:spcPct val="114999"/>
              </a:lnSpc>
              <a:buAutoNum type="arabicPeriod"/>
              <a:defRPr/>
            </a:pPr>
            <a:endParaRPr sz="1800">
              <a:solidFill>
                <a:schemeClr val="tx1"/>
              </a:solidFill>
              <a:latin typeface="Bricolage Grotesque"/>
              <a:cs typeface="Bricolage Grotesque"/>
            </a:endParaRPr>
          </a:p>
          <a:p>
            <a:pPr marL="283878" indent="-283878">
              <a:lnSpc>
                <a:spcPct val="114999"/>
              </a:lnSpc>
              <a:buAutoNum type="arabicPeriod"/>
              <a:defRPr/>
            </a:pPr>
            <a:r>
              <a:rPr sz="1800" b="1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Fenced In: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A fixed template and input sanitization prevent hallucination and prompt injection.</a:t>
            </a:r>
            <a:endParaRPr sz="180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438634" name=""/>
          <p:cNvSpPr/>
          <p:nvPr/>
        </p:nvSpPr>
        <p:spPr bwMode="auto">
          <a:xfrm>
            <a:off x="476280" y="380880"/>
            <a:ext cx="8191080" cy="3614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000" b="1" i="0" u="none" strike="noStrike" cap="none" spc="0">
                <a:solidFill>
                  <a:srgbClr val="3B2A2A"/>
                </a:solidFill>
                <a:latin typeface="Bricolage Grotesque"/>
                <a:ea typeface="Bricolage Grotesque"/>
                <a:cs typeface="Bricolage Grotesque"/>
              </a:rPr>
              <a:t>One Request, Cradle to Grave</a:t>
            </a:r>
            <a:endParaRPr lang="en-US" sz="24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42072909" name=""/>
          <p:cNvSpPr txBox="1"/>
          <p:nvPr/>
        </p:nvSpPr>
        <p:spPr bwMode="auto">
          <a:xfrm rot="0" flipH="0" flipV="0">
            <a:off x="476279" y="1218639"/>
            <a:ext cx="7677468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POST /score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 -→ Validate Input -→ Compute Past-Only Features </a:t>
            </a:r>
            <a:endParaRPr lang="en-US" sz="1600" b="0" i="0" u="none" strike="noStrike" cap="none" spc="0">
              <a:solidFill>
                <a:srgbClr val="000000"/>
              </a:solidFill>
              <a:latin typeface="Bricolage Grotesque"/>
              <a:ea typeface="Bricolage Grotesque"/>
              <a:cs typeface="Bricolage Grotesque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-→ 3 Models Score → Weighted Ensemble -→ Score Band </a:t>
            </a:r>
            <a:endParaRPr lang="en-US" sz="1600" b="0" i="0" u="none" strike="noStrike" cap="none" spc="0">
              <a:solidFill>
                <a:srgbClr val="000000"/>
              </a:solidFill>
              <a:latin typeface="Bricolage Grotesque"/>
              <a:ea typeface="Bricolage Grotesque"/>
              <a:cs typeface="Bricolage Grotesque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-→ Assemble Reasons -→ LLM/Template Narrates -→ Logged as LIVE Case </a:t>
            </a:r>
            <a:endParaRPr lang="en-US" sz="1600" b="0" i="0" u="none" strike="noStrike" cap="none" spc="0">
              <a:solidFill>
                <a:srgbClr val="000000"/>
              </a:solidFill>
              <a:latin typeface="Bricolage Grotesque"/>
              <a:ea typeface="Bricolage Grotesque"/>
              <a:cs typeface="Bricolage Grotesque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-→ Analyst Reviews in Console -→ Decision Logged for Retraining.</a:t>
            </a:r>
            <a:endParaRPr sz="1600"/>
          </a:p>
        </p:txBody>
      </p:sp>
      <p:sp>
        <p:nvSpPr>
          <p:cNvPr id="795763342" name=""/>
          <p:cNvSpPr txBox="1"/>
          <p:nvPr/>
        </p:nvSpPr>
        <p:spPr bwMode="auto">
          <a:xfrm rot="0" flipH="0" flipV="0">
            <a:off x="476279" y="3550863"/>
            <a:ext cx="81921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</a:rPr>
              <a:t>The whole end-to-end request life-cycle has a p95 latency of around 26ms.</a:t>
            </a:r>
            <a:endParaRPr sz="1400">
              <a:solidFill>
                <a:schemeClr val="tx1"/>
              </a:solidFill>
              <a:latin typeface="Bricolage Grotesque"/>
              <a:cs typeface="Bricolage Grotesq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6E3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95519" name=""/>
          <p:cNvSpPr txBox="1"/>
          <p:nvPr/>
        </p:nvSpPr>
        <p:spPr bwMode="auto">
          <a:xfrm rot="0" flipH="0" flipV="0">
            <a:off x="6065874" y="571500"/>
            <a:ext cx="243980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>
                <a:latin typeface="Bricolage Grotesque"/>
                <a:ea typeface="Bricolage Grotesque"/>
                <a:cs typeface="Bricolage Grotesque"/>
              </a:rPr>
              <a:t>Thank You</a:t>
            </a:r>
            <a:endParaRPr sz="3600">
              <a:latin typeface="Bricolage Grotesque"/>
              <a:cs typeface="Bricolage Grotesque"/>
            </a:endParaRPr>
          </a:p>
        </p:txBody>
      </p:sp>
      <p:sp>
        <p:nvSpPr>
          <p:cNvPr id="946516024" name=""/>
          <p:cNvSpPr txBox="1"/>
          <p:nvPr/>
        </p:nvSpPr>
        <p:spPr bwMode="auto">
          <a:xfrm rot="0" flipH="0" flipV="0">
            <a:off x="573124" y="2174874"/>
            <a:ext cx="3731344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JU_MergeConflict</a:t>
            </a:r>
            <a:endParaRPr sz="2000">
              <a:latin typeface="Bricolage Grotesque"/>
              <a:cs typeface="Bricolage Grotesque"/>
            </a:endParaRPr>
          </a:p>
          <a:p>
            <a:pPr>
              <a:defRPr/>
            </a:pPr>
            <a:endParaRPr sz="2000">
              <a:latin typeface="Bricolage Grotesque"/>
              <a:cs typeface="Bricolage Grotesque"/>
            </a:endParaRPr>
          </a:p>
          <a:p>
            <a:pPr>
              <a:defRPr/>
            </a:pPr>
            <a:r>
              <a:rPr sz="2000">
                <a:latin typeface="Bricolage Grotesque"/>
                <a:ea typeface="Bricolage Grotesque"/>
                <a:cs typeface="Bricolage Grotesque"/>
              </a:rPr>
              <a:t>Anindya Saha</a:t>
            </a:r>
            <a:endParaRPr sz="2000">
              <a:latin typeface="Bricolage Grotesque"/>
              <a:cs typeface="Bricolage Grotesque"/>
            </a:endParaRPr>
          </a:p>
          <a:p>
            <a:pPr>
              <a:defRPr/>
            </a:pPr>
            <a:r>
              <a:rPr sz="2000">
                <a:latin typeface="Bricolage Grotesque"/>
                <a:ea typeface="Bricolage Grotesque"/>
                <a:cs typeface="Bricolage Grotesque"/>
              </a:rPr>
              <a:t>MD Muktadirul Haque Maruf</a:t>
            </a:r>
            <a:endParaRPr sz="2000">
              <a:latin typeface="Bricolage Grotesque"/>
              <a:cs typeface="Bricolage Grotesque"/>
            </a:endParaRPr>
          </a:p>
          <a:p>
            <a:pPr>
              <a:defRPr/>
            </a:pPr>
            <a:r>
              <a:rPr sz="2000">
                <a:latin typeface="Bricolage Grotesque"/>
                <a:ea typeface="Bricolage Grotesque"/>
                <a:cs typeface="Bricolage Grotesque"/>
              </a:rPr>
              <a:t>Twaha Rahman</a:t>
            </a:r>
            <a:endParaRPr sz="2000">
              <a:latin typeface="Bricolage Grotesque"/>
              <a:cs typeface="Bricolage Grotesque"/>
            </a:endParaRPr>
          </a:p>
        </p:txBody>
      </p:sp>
      <p:sp>
        <p:nvSpPr>
          <p:cNvPr id="515903038" name=""/>
          <p:cNvSpPr txBox="1"/>
          <p:nvPr/>
        </p:nvSpPr>
        <p:spPr bwMode="auto">
          <a:xfrm rot="0" flipH="0" flipV="0">
            <a:off x="573124" y="4388303"/>
            <a:ext cx="79343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latin typeface="Bricolage Grotesque"/>
                <a:ea typeface="Bricolage Grotesque"/>
                <a:cs typeface="Bricolage Grotesque"/>
              </a:rPr>
              <a:t>Github: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https://github.com/A7reus/Vigil</a:t>
            </a:r>
            <a:endParaRPr sz="1600">
              <a:latin typeface="Bricolage Grotesque"/>
              <a:cs typeface="Bricolage Grotesq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irst Impressions">
  <a:themeElements>
    <a:clrScheme name="Simple Light">
      <a:dk1>
        <a:srgbClr val="3B2A2A"/>
      </a:dk1>
      <a:lt1>
        <a:srgbClr val="E6E3DC"/>
      </a:lt1>
      <a:dk2>
        <a:srgbClr val="3B2A2A"/>
      </a:dk2>
      <a:lt2>
        <a:srgbClr val="962B07"/>
      </a:lt2>
      <a:accent1>
        <a:srgbClr val="FFFFFF"/>
      </a:accent1>
      <a:accent2>
        <a:srgbClr val="421E1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First Impressions">
  <a:themeElements>
    <a:clrScheme name="Simple Light">
      <a:dk1>
        <a:srgbClr val="3B2A2A"/>
      </a:dk1>
      <a:lt1>
        <a:srgbClr val="E6E3DC"/>
      </a:lt1>
      <a:dk2>
        <a:srgbClr val="3B2A2A"/>
      </a:dk2>
      <a:lt2>
        <a:srgbClr val="962B07"/>
      </a:lt2>
      <a:accent1>
        <a:srgbClr val="FFFFFF"/>
      </a:accent1>
      <a:accent2>
        <a:srgbClr val="421E1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Microsoft Corporation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Twaha Rahman</dc:creator>
  <dc:description/>
  <dc:language>en-US</dc:language>
  <cp:lastModifiedBy/>
  <cp:revision>4</cp:revision>
  <dcterms:created xsi:type="dcterms:W3CDTF">2026-10-03T08:37:54Z</dcterms:created>
  <dcterms:modified xsi:type="dcterms:W3CDTF">2026-10-03T16:01:25Z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9.000000</vt:r8>
  </property>
</Properties>
</file>